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7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12648" y="301752"/>
            <a:ext cx="11301984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sz="2400">
                <a:solidFill>
                  <a:srgbClr val="1A2233"/>
                </a:solidFill>
              </a:rPr>
              <a:t>ParT weights compression — accuracy vs wf bits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60120"/>
            <a:ext cx="11301984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>
                <a:solidFill>
                  <a:srgbClr val="0073E6"/>
                </a:solidFill>
              </a:rPr>
              <a:t>Data compressed to 16 bits (f=11, i=4, k=1)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" y="1371600"/>
            <a:ext cx="11073384" cy="5257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7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12648" y="301752"/>
            <a:ext cx="11301984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sz="2400">
                <a:solidFill>
                  <a:srgbClr val="1A2233"/>
                </a:solidFill>
              </a:rPr>
              <a:t>ParT weights compression — OvO AUC vs wf bits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60120"/>
            <a:ext cx="11301984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>
                <a:solidFill>
                  <a:srgbClr val="0073E6"/>
                </a:solidFill>
              </a:rPr>
              <a:t>Data compressed to 16 bits (f=11, i=4, k=1)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" y="1371600"/>
            <a:ext cx="11073384" cy="5257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7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12648" y="301752"/>
            <a:ext cx="11301984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sz="2400">
                <a:solidFill>
                  <a:srgbClr val="1A2233"/>
                </a:solidFill>
              </a:rPr>
              <a:t>Overall scan metrics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60120"/>
            <a:ext cx="11301984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>
                <a:solidFill>
                  <a:srgbClr val="0073E6"/>
                </a:solidFill>
              </a:rPr>
              <a:t>Test accuracy  ·  remaining weights  ·  OvO macro AUC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12648" y="1325880"/>
          <a:ext cx="1107338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1741"/>
                <a:gridCol w="3100547"/>
                <a:gridCol w="3100547"/>
                <a:gridCol w="3100547"/>
              </a:tblGrid>
              <a:tr h="628650">
                <a:tc>
                  <a:txBody>
                    <a:bodyPr wrap="none"/>
                    <a:lstStyle/>
                    <a:p>
                      <a:pPr algn="ctr"/>
                      <a:r>
                        <a:rPr sz="900" b="1">
                          <a:solidFill>
                            <a:srgbClr val="1E40AF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dbeafe"/>
                    </a:solidFill>
                    <a:lnL w="6350">
                      <a:solidFill>
                        <a:srgbClr val="e2e8f0"/>
                      </a:solidFill>
                    </a:lnL>
                    <a:lnR w="6350">
                      <a:solidFill>
                        <a:srgbClr val="e2e8f0"/>
                      </a:solidFill>
                    </a:lnR>
                    <a:lnT w="6350">
                      <a:solidFill>
                        <a:srgbClr val="e2e8f0"/>
                      </a:solidFill>
                    </a:lnT>
                    <a:lnB w="6350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1E40AF"/>
                          </a:solidFill>
                        </a:rPr>
                        <a:t>Accuracy (%)</a:t>
                      </a:r>
                    </a:p>
                  </a:txBody>
                  <a:tcPr>
                    <a:solidFill>
                      <a:srgbClr val="dbeafe"/>
                    </a:solidFill>
                    <a:lnL w="6350">
                      <a:solidFill>
                        <a:srgbClr val="e2e8f0"/>
                      </a:solidFill>
                    </a:lnL>
                    <a:lnR w="6350">
                      <a:solidFill>
                        <a:srgbClr val="e2e8f0"/>
                      </a:solidFill>
                    </a:lnR>
                    <a:lnT w="6350">
                      <a:solidFill>
                        <a:srgbClr val="e2e8f0"/>
                      </a:solidFill>
                    </a:lnT>
                    <a:lnB w="6350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1E40AF"/>
                          </a:solidFill>
                        </a:rPr>
                        <a:t>Remaining weights</a:t>
                      </a:r>
                    </a:p>
                  </a:txBody>
                  <a:tcPr>
                    <a:solidFill>
                      <a:srgbClr val="dbeafe"/>
                    </a:solidFill>
                    <a:lnL w="6350">
                      <a:solidFill>
                        <a:srgbClr val="e2e8f0"/>
                      </a:solidFill>
                    </a:lnL>
                    <a:lnR w="6350">
                      <a:solidFill>
                        <a:srgbClr val="e2e8f0"/>
                      </a:solidFill>
                    </a:lnR>
                    <a:lnT w="6350">
                      <a:solidFill>
                        <a:srgbClr val="e2e8f0"/>
                      </a:solidFill>
                    </a:lnT>
                    <a:lnB w="6350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1E40AF"/>
                          </a:solidFill>
                        </a:rPr>
                        <a:t>OvO macro AUC</a:t>
                      </a:r>
                    </a:p>
                  </a:txBody>
                  <a:tcPr>
                    <a:solidFill>
                      <a:srgbClr val="dbeafe"/>
                    </a:solidFill>
                    <a:lnL w="6350">
                      <a:solidFill>
                        <a:srgbClr val="e2e8f0"/>
                      </a:solidFill>
                    </a:lnL>
                    <a:lnR w="6350">
                      <a:solidFill>
                        <a:srgbClr val="e2e8f0"/>
                      </a:solidFill>
                    </a:lnR>
                    <a:lnT w="6350">
                      <a:solidFill>
                        <a:srgbClr val="e2e8f0"/>
                      </a:solidFill>
                    </a:lnT>
                    <a:lnB w="6350">
                      <a:solidFill>
                        <a:srgbClr val="e2e8f0"/>
                      </a:solidFill>
                    </a:lnB>
                  </a:tcPr>
                </a:tc>
              </a:tr>
              <a:tr h="628650">
                <a:tc>
                  <a:txBody>
                    <a:bodyPr wrap="none"/>
                    <a:lstStyle/>
                    <a:p>
                      <a:pPr algn="l"/>
                      <a:r>
                        <a:rPr sz="900" b="1">
                          <a:solidFill>
                            <a:srgbClr val="0073E6"/>
                          </a:solidFill>
                        </a:rPr>
                        <a:t>Full prec.</a:t>
                      </a:r>
                    </a:p>
                  </a:txBody>
                  <a:tcPr>
                    <a:solidFill>
                      <a:srgbClr val="eff6ff"/>
                    </a:solidFill>
                    <a:lnL w="6350">
                      <a:solidFill>
                        <a:srgbClr val="e2e8f0"/>
                      </a:solidFill>
                    </a:lnL>
                    <a:lnR w="6350">
                      <a:solidFill>
                        <a:srgbClr val="e2e8f0"/>
                      </a:solidFill>
                    </a:lnR>
                    <a:lnT w="6350">
                      <a:solidFill>
                        <a:srgbClr val="e2e8f0"/>
                      </a:solidFill>
                    </a:lnT>
                    <a:lnB w="6350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1">
                          <a:solidFill>
                            <a:srgbClr val="0073E6"/>
                          </a:solidFill>
                        </a:rPr>
                        <a:t>86.051%</a:t>
                      </a:r>
                    </a:p>
                  </a:txBody>
                  <a:tcPr>
                    <a:solidFill>
                      <a:srgbClr val="eff6ff"/>
                    </a:solidFill>
                    <a:lnL w="6350">
                      <a:solidFill>
                        <a:srgbClr val="e2e8f0"/>
                      </a:solidFill>
                    </a:lnL>
                    <a:lnR w="6350">
                      <a:solidFill>
                        <a:srgbClr val="e2e8f0"/>
                      </a:solidFill>
                    </a:lnR>
                    <a:lnT w="6350">
                      <a:solidFill>
                        <a:srgbClr val="e2e8f0"/>
                      </a:solidFill>
                    </a:lnT>
                    <a:lnB w="6350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1">
                          <a:solidFill>
                            <a:srgbClr val="0073E6"/>
                          </a:solidFill>
                        </a:rPr>
                        <a:t>100.00%</a:t>
                      </a:r>
                    </a:p>
                  </a:txBody>
                  <a:tcPr>
                    <a:solidFill>
                      <a:srgbClr val="eff6ff"/>
                    </a:solidFill>
                    <a:lnL w="6350">
                      <a:solidFill>
                        <a:srgbClr val="e2e8f0"/>
                      </a:solidFill>
                    </a:lnL>
                    <a:lnR w="6350">
                      <a:solidFill>
                        <a:srgbClr val="e2e8f0"/>
                      </a:solidFill>
                    </a:lnR>
                    <a:lnT w="6350">
                      <a:solidFill>
                        <a:srgbClr val="e2e8f0"/>
                      </a:solidFill>
                    </a:lnT>
                    <a:lnB w="6350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1">
                          <a:solidFill>
                            <a:srgbClr val="0073E6"/>
                          </a:solidFill>
                        </a:rPr>
                        <a:t>0.98772</a:t>
                      </a:r>
                    </a:p>
                  </a:txBody>
                  <a:tcPr>
                    <a:solidFill>
                      <a:srgbClr val="eff6ff"/>
                    </a:solidFill>
                    <a:lnL w="6350">
                      <a:solidFill>
                        <a:srgbClr val="e2e8f0"/>
                      </a:solidFill>
                    </a:lnL>
                    <a:lnR w="6350">
                      <a:solidFill>
                        <a:srgbClr val="e2e8f0"/>
                      </a:solidFill>
                    </a:lnR>
                    <a:lnT w="6350">
                      <a:solidFill>
                        <a:srgbClr val="e2e8f0"/>
                      </a:solidFill>
                    </a:lnT>
                    <a:lnB w="6350">
                      <a:solidFill>
                        <a:srgbClr val="e2e8f0"/>
                      </a:solidFill>
                    </a:lnB>
                  </a:tcPr>
                </a:tc>
              </a:tr>
              <a:tr h="628650">
                <a:tc>
                  <a:txBody>
                    <a:bodyPr wrap="none"/>
                    <a:lstStyle/>
                    <a:p>
                      <a:pPr algn="l"/>
                      <a:r>
                        <a:rPr sz="900" b="0">
                          <a:solidFill>
                            <a:srgbClr val="1A2233"/>
                          </a:solidFill>
                        </a:rPr>
                        <a:t>wf = 2</a:t>
                      </a:r>
                    </a:p>
                  </a:txBody>
                  <a:tcPr>
                    <a:solidFill>
                      <a:srgbClr val="f1f5f9"/>
                    </a:solidFill>
                    <a:lnL w="6350">
                      <a:solidFill>
                        <a:srgbClr val="e2e8f0"/>
                      </a:solidFill>
                    </a:lnL>
                    <a:lnR w="6350">
                      <a:solidFill>
                        <a:srgbClr val="e2e8f0"/>
                      </a:solidFill>
                    </a:lnR>
                    <a:lnT w="6350">
                      <a:solidFill>
                        <a:srgbClr val="e2e8f0"/>
                      </a:solidFill>
                    </a:lnT>
                    <a:lnB w="6350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1A2233"/>
                          </a:solidFill>
                        </a:rPr>
                        <a:t>10.004% *</a:t>
                      </a:r>
                    </a:p>
                  </a:txBody>
                  <a:tcPr>
                    <a:solidFill>
                      <a:srgbClr val="f1f5f9"/>
                    </a:solidFill>
                    <a:lnL w="6350">
                      <a:solidFill>
                        <a:srgbClr val="e2e8f0"/>
                      </a:solidFill>
                    </a:lnL>
                    <a:lnR w="6350">
                      <a:solidFill>
                        <a:srgbClr val="e2e8f0"/>
                      </a:solidFill>
                    </a:lnR>
                    <a:lnT w="6350">
                      <a:solidFill>
                        <a:srgbClr val="e2e8f0"/>
                      </a:solidFill>
                    </a:lnT>
                    <a:lnB w="6350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1A2233"/>
                          </a:solidFill>
                        </a:rPr>
                        <a:t>0.00%</a:t>
                      </a:r>
                    </a:p>
                  </a:txBody>
                  <a:tcPr>
                    <a:solidFill>
                      <a:srgbClr val="f1f5f9"/>
                    </a:solidFill>
                    <a:lnL w="6350">
                      <a:solidFill>
                        <a:srgbClr val="e2e8f0"/>
                      </a:solidFill>
                    </a:lnL>
                    <a:lnR w="6350">
                      <a:solidFill>
                        <a:srgbClr val="e2e8f0"/>
                      </a:solidFill>
                    </a:lnR>
                    <a:lnT w="6350">
                      <a:solidFill>
                        <a:srgbClr val="e2e8f0"/>
                      </a:solidFill>
                    </a:lnT>
                    <a:lnB w="6350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1A2233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1f5f9"/>
                    </a:solidFill>
                    <a:lnL w="6350">
                      <a:solidFill>
                        <a:srgbClr val="e2e8f0"/>
                      </a:solidFill>
                    </a:lnL>
                    <a:lnR w="6350">
                      <a:solidFill>
                        <a:srgbClr val="e2e8f0"/>
                      </a:solidFill>
                    </a:lnR>
                    <a:lnT w="6350">
                      <a:solidFill>
                        <a:srgbClr val="e2e8f0"/>
                      </a:solidFill>
                    </a:lnT>
                    <a:lnB w="6350">
                      <a:solidFill>
                        <a:srgbClr val="e2e8f0"/>
                      </a:solidFill>
                    </a:lnB>
                  </a:tcPr>
                </a:tc>
              </a:tr>
              <a:tr h="628650">
                <a:tc>
                  <a:txBody>
                    <a:bodyPr wrap="none"/>
                    <a:lstStyle/>
                    <a:p>
                      <a:pPr algn="l"/>
                      <a:r>
                        <a:rPr sz="900" b="0">
                          <a:solidFill>
                            <a:srgbClr val="1A2233"/>
                          </a:solidFill>
                        </a:rPr>
                        <a:t>wf = 4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2e8f0"/>
                      </a:solidFill>
                    </a:lnL>
                    <a:lnR w="6350">
                      <a:solidFill>
                        <a:srgbClr val="e2e8f0"/>
                      </a:solidFill>
                    </a:lnR>
                    <a:lnT w="6350">
                      <a:solidFill>
                        <a:srgbClr val="e2e8f0"/>
                      </a:solidFill>
                    </a:lnT>
                    <a:lnB w="6350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1A2233"/>
                          </a:solidFill>
                        </a:rPr>
                        <a:t>80.190%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2e8f0"/>
                      </a:solidFill>
                    </a:lnL>
                    <a:lnR w="6350">
                      <a:solidFill>
                        <a:srgbClr val="e2e8f0"/>
                      </a:solidFill>
                    </a:lnR>
                    <a:lnT w="6350">
                      <a:solidFill>
                        <a:srgbClr val="e2e8f0"/>
                      </a:solidFill>
                    </a:lnT>
                    <a:lnB w="6350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1A2233"/>
                          </a:solidFill>
                        </a:rPr>
                        <a:t>0.56%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2e8f0"/>
                      </a:solidFill>
                    </a:lnL>
                    <a:lnR w="6350">
                      <a:solidFill>
                        <a:srgbClr val="e2e8f0"/>
                      </a:solidFill>
                    </a:lnR>
                    <a:lnT w="6350">
                      <a:solidFill>
                        <a:srgbClr val="e2e8f0"/>
                      </a:solidFill>
                    </a:lnT>
                    <a:lnB w="6350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1A2233"/>
                          </a:solidFill>
                        </a:rPr>
                        <a:t>0.97780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2e8f0"/>
                      </a:solidFill>
                    </a:lnL>
                    <a:lnR w="6350">
                      <a:solidFill>
                        <a:srgbClr val="e2e8f0"/>
                      </a:solidFill>
                    </a:lnR>
                    <a:lnT w="6350">
                      <a:solidFill>
                        <a:srgbClr val="e2e8f0"/>
                      </a:solidFill>
                    </a:lnT>
                    <a:lnB w="6350">
                      <a:solidFill>
                        <a:srgbClr val="e2e8f0"/>
                      </a:solidFill>
                    </a:lnB>
                  </a:tcPr>
                </a:tc>
              </a:tr>
              <a:tr h="628650">
                <a:tc>
                  <a:txBody>
                    <a:bodyPr wrap="none"/>
                    <a:lstStyle/>
                    <a:p>
                      <a:pPr algn="l"/>
                      <a:r>
                        <a:rPr sz="900" b="0">
                          <a:solidFill>
                            <a:srgbClr val="1A2233"/>
                          </a:solidFill>
                        </a:rPr>
                        <a:t>wf = 6</a:t>
                      </a:r>
                    </a:p>
                  </a:txBody>
                  <a:tcPr>
                    <a:solidFill>
                      <a:srgbClr val="f1f5f9"/>
                    </a:solidFill>
                    <a:lnL w="6350">
                      <a:solidFill>
                        <a:srgbClr val="e2e8f0"/>
                      </a:solidFill>
                    </a:lnL>
                    <a:lnR w="6350">
                      <a:solidFill>
                        <a:srgbClr val="e2e8f0"/>
                      </a:solidFill>
                    </a:lnR>
                    <a:lnT w="6350">
                      <a:solidFill>
                        <a:srgbClr val="e2e8f0"/>
                      </a:solidFill>
                    </a:lnT>
                    <a:lnB w="6350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1A2233"/>
                          </a:solidFill>
                        </a:rPr>
                        <a:t>82.106%</a:t>
                      </a:r>
                    </a:p>
                  </a:txBody>
                  <a:tcPr>
                    <a:solidFill>
                      <a:srgbClr val="f1f5f9"/>
                    </a:solidFill>
                    <a:lnL w="6350">
                      <a:solidFill>
                        <a:srgbClr val="e2e8f0"/>
                      </a:solidFill>
                    </a:lnL>
                    <a:lnR w="6350">
                      <a:solidFill>
                        <a:srgbClr val="e2e8f0"/>
                      </a:solidFill>
                    </a:lnR>
                    <a:lnT w="6350">
                      <a:solidFill>
                        <a:srgbClr val="e2e8f0"/>
                      </a:solidFill>
                    </a:lnT>
                    <a:lnB w="6350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1A2233"/>
                          </a:solidFill>
                        </a:rPr>
                        <a:t>1.06%</a:t>
                      </a:r>
                    </a:p>
                  </a:txBody>
                  <a:tcPr>
                    <a:solidFill>
                      <a:srgbClr val="f1f5f9"/>
                    </a:solidFill>
                    <a:lnL w="6350">
                      <a:solidFill>
                        <a:srgbClr val="e2e8f0"/>
                      </a:solidFill>
                    </a:lnL>
                    <a:lnR w="6350">
                      <a:solidFill>
                        <a:srgbClr val="e2e8f0"/>
                      </a:solidFill>
                    </a:lnR>
                    <a:lnT w="6350">
                      <a:solidFill>
                        <a:srgbClr val="e2e8f0"/>
                      </a:solidFill>
                    </a:lnT>
                    <a:lnB w="6350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1A2233"/>
                          </a:solidFill>
                        </a:rPr>
                        <a:t>0.98107</a:t>
                      </a:r>
                    </a:p>
                  </a:txBody>
                  <a:tcPr>
                    <a:solidFill>
                      <a:srgbClr val="f1f5f9"/>
                    </a:solidFill>
                    <a:lnL w="6350">
                      <a:solidFill>
                        <a:srgbClr val="e2e8f0"/>
                      </a:solidFill>
                    </a:lnL>
                    <a:lnR w="6350">
                      <a:solidFill>
                        <a:srgbClr val="e2e8f0"/>
                      </a:solidFill>
                    </a:lnR>
                    <a:lnT w="6350">
                      <a:solidFill>
                        <a:srgbClr val="e2e8f0"/>
                      </a:solidFill>
                    </a:lnT>
                    <a:lnB w="6350">
                      <a:solidFill>
                        <a:srgbClr val="e2e8f0"/>
                      </a:solidFill>
                    </a:lnB>
                  </a:tcPr>
                </a:tc>
              </a:tr>
              <a:tr h="628650">
                <a:tc>
                  <a:txBody>
                    <a:bodyPr wrap="none"/>
                    <a:lstStyle/>
                    <a:p>
                      <a:pPr algn="l"/>
                      <a:r>
                        <a:rPr sz="900" b="0">
                          <a:solidFill>
                            <a:srgbClr val="1A2233"/>
                          </a:solidFill>
                        </a:rPr>
                        <a:t>wf = 8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2e8f0"/>
                      </a:solidFill>
                    </a:lnL>
                    <a:lnR w="6350">
                      <a:solidFill>
                        <a:srgbClr val="e2e8f0"/>
                      </a:solidFill>
                    </a:lnR>
                    <a:lnT w="6350">
                      <a:solidFill>
                        <a:srgbClr val="e2e8f0"/>
                      </a:solidFill>
                    </a:lnT>
                    <a:lnB w="6350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1A2233"/>
                          </a:solidFill>
                        </a:rPr>
                        <a:t>82.224%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2e8f0"/>
                      </a:solidFill>
                    </a:lnL>
                    <a:lnR w="6350">
                      <a:solidFill>
                        <a:srgbClr val="e2e8f0"/>
                      </a:solidFill>
                    </a:lnR>
                    <a:lnT w="6350">
                      <a:solidFill>
                        <a:srgbClr val="e2e8f0"/>
                      </a:solidFill>
                    </a:lnT>
                    <a:lnB w="6350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1A2233"/>
                          </a:solidFill>
                        </a:rPr>
                        <a:t>1.68%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2e8f0"/>
                      </a:solidFill>
                    </a:lnL>
                    <a:lnR w="6350">
                      <a:solidFill>
                        <a:srgbClr val="e2e8f0"/>
                      </a:solidFill>
                    </a:lnR>
                    <a:lnT w="6350">
                      <a:solidFill>
                        <a:srgbClr val="e2e8f0"/>
                      </a:solidFill>
                    </a:lnT>
                    <a:lnB w="6350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1A2233"/>
                          </a:solidFill>
                        </a:rPr>
                        <a:t>0.98125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2e8f0"/>
                      </a:solidFill>
                    </a:lnL>
                    <a:lnR w="6350">
                      <a:solidFill>
                        <a:srgbClr val="e2e8f0"/>
                      </a:solidFill>
                    </a:lnR>
                    <a:lnT w="6350">
                      <a:solidFill>
                        <a:srgbClr val="e2e8f0"/>
                      </a:solidFill>
                    </a:lnT>
                    <a:lnB w="6350">
                      <a:solidFill>
                        <a:srgbClr val="e2e8f0"/>
                      </a:solidFill>
                    </a:lnB>
                  </a:tcPr>
                </a:tc>
              </a:tr>
              <a:tr h="628650">
                <a:tc>
                  <a:txBody>
                    <a:bodyPr wrap="none"/>
                    <a:lstStyle/>
                    <a:p>
                      <a:pPr algn="l"/>
                      <a:r>
                        <a:rPr sz="900" b="0">
                          <a:solidFill>
                            <a:srgbClr val="1A2233"/>
                          </a:solidFill>
                        </a:rPr>
                        <a:t>wf = 10</a:t>
                      </a:r>
                    </a:p>
                  </a:txBody>
                  <a:tcPr>
                    <a:solidFill>
                      <a:srgbClr val="f1f5f9"/>
                    </a:solidFill>
                    <a:lnL w="6350">
                      <a:solidFill>
                        <a:srgbClr val="e2e8f0"/>
                      </a:solidFill>
                    </a:lnL>
                    <a:lnR w="6350">
                      <a:solidFill>
                        <a:srgbClr val="e2e8f0"/>
                      </a:solidFill>
                    </a:lnR>
                    <a:lnT w="6350">
                      <a:solidFill>
                        <a:srgbClr val="e2e8f0"/>
                      </a:solidFill>
                    </a:lnT>
                    <a:lnB w="6350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1A2233"/>
                          </a:solidFill>
                        </a:rPr>
                        <a:t>82.309%</a:t>
                      </a:r>
                    </a:p>
                  </a:txBody>
                  <a:tcPr>
                    <a:solidFill>
                      <a:srgbClr val="f1f5f9"/>
                    </a:solidFill>
                    <a:lnL w="6350">
                      <a:solidFill>
                        <a:srgbClr val="e2e8f0"/>
                      </a:solidFill>
                    </a:lnL>
                    <a:lnR w="6350">
                      <a:solidFill>
                        <a:srgbClr val="e2e8f0"/>
                      </a:solidFill>
                    </a:lnR>
                    <a:lnT w="6350">
                      <a:solidFill>
                        <a:srgbClr val="e2e8f0"/>
                      </a:solidFill>
                    </a:lnT>
                    <a:lnB w="6350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1A2233"/>
                          </a:solidFill>
                        </a:rPr>
                        <a:t>2.07%</a:t>
                      </a:r>
                    </a:p>
                  </a:txBody>
                  <a:tcPr>
                    <a:solidFill>
                      <a:srgbClr val="f1f5f9"/>
                    </a:solidFill>
                    <a:lnL w="6350">
                      <a:solidFill>
                        <a:srgbClr val="e2e8f0"/>
                      </a:solidFill>
                    </a:lnL>
                    <a:lnR w="6350">
                      <a:solidFill>
                        <a:srgbClr val="e2e8f0"/>
                      </a:solidFill>
                    </a:lnR>
                    <a:lnT w="6350">
                      <a:solidFill>
                        <a:srgbClr val="e2e8f0"/>
                      </a:solidFill>
                    </a:lnT>
                    <a:lnB w="6350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1A2233"/>
                          </a:solidFill>
                        </a:rPr>
                        <a:t>0.98136</a:t>
                      </a:r>
                    </a:p>
                  </a:txBody>
                  <a:tcPr>
                    <a:solidFill>
                      <a:srgbClr val="f1f5f9"/>
                    </a:solidFill>
                    <a:lnL w="6350">
                      <a:solidFill>
                        <a:srgbClr val="e2e8f0"/>
                      </a:solidFill>
                    </a:lnL>
                    <a:lnR w="6350">
                      <a:solidFill>
                        <a:srgbClr val="e2e8f0"/>
                      </a:solidFill>
                    </a:lnR>
                    <a:lnT w="6350">
                      <a:solidFill>
                        <a:srgbClr val="e2e8f0"/>
                      </a:solidFill>
                    </a:lnT>
                    <a:lnB w="6350">
                      <a:solidFill>
                        <a:srgbClr val="e2e8f0"/>
                      </a:solidFill>
                    </a:lnB>
                  </a:tcPr>
                </a:tc>
              </a:tr>
              <a:tr h="628650">
                <a:tc>
                  <a:txBody>
                    <a:bodyPr wrap="none"/>
                    <a:lstStyle/>
                    <a:p>
                      <a:pPr algn="l"/>
                      <a:r>
                        <a:rPr sz="900" b="0">
                          <a:solidFill>
                            <a:srgbClr val="1A2233"/>
                          </a:solidFill>
                        </a:rPr>
                        <a:t>wf = 12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2e8f0"/>
                      </a:solidFill>
                    </a:lnL>
                    <a:lnR w="6350">
                      <a:solidFill>
                        <a:srgbClr val="e2e8f0"/>
                      </a:solidFill>
                    </a:lnR>
                    <a:lnT w="6350">
                      <a:solidFill>
                        <a:srgbClr val="e2e8f0"/>
                      </a:solidFill>
                    </a:lnT>
                    <a:lnB w="6350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1A2233"/>
                          </a:solidFill>
                        </a:rPr>
                        <a:t>82.270%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2e8f0"/>
                      </a:solidFill>
                    </a:lnL>
                    <a:lnR w="6350">
                      <a:solidFill>
                        <a:srgbClr val="e2e8f0"/>
                      </a:solidFill>
                    </a:lnR>
                    <a:lnT w="6350">
                      <a:solidFill>
                        <a:srgbClr val="e2e8f0"/>
                      </a:solidFill>
                    </a:lnT>
                    <a:lnB w="6350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1A2233"/>
                          </a:solidFill>
                        </a:rPr>
                        <a:t>2.41%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2e8f0"/>
                      </a:solidFill>
                    </a:lnL>
                    <a:lnR w="6350">
                      <a:solidFill>
                        <a:srgbClr val="e2e8f0"/>
                      </a:solidFill>
                    </a:lnR>
                    <a:lnT w="6350">
                      <a:solidFill>
                        <a:srgbClr val="e2e8f0"/>
                      </a:solidFill>
                    </a:lnT>
                    <a:lnB w="6350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1A2233"/>
                          </a:solidFill>
                        </a:rPr>
                        <a:t>0.98130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2e8f0"/>
                      </a:solidFill>
                    </a:lnL>
                    <a:lnR w="6350">
                      <a:solidFill>
                        <a:srgbClr val="e2e8f0"/>
                      </a:solidFill>
                    </a:lnR>
                    <a:lnT w="6350">
                      <a:solidFill>
                        <a:srgbClr val="e2e8f0"/>
                      </a:solidFill>
                    </a:lnT>
                    <a:lnB w="6350">
                      <a:solidFill>
                        <a:srgbClr val="e2e8f0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12648" y="6473952"/>
            <a:ext cx="1107338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i="1">
                <a:solidFill>
                  <a:srgbClr val="9AACBB"/>
                </a:solidFill>
              </a:rPr>
              <a:t>* wf=2: training ran to epoch 39 but weights collapsed to 0% by epoch 3 (2-bit quantization too coarse); accuracy shown is 10% (random chance for 10 classes)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7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12648" y="301752"/>
            <a:ext cx="11301984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sz="2400">
                <a:solidFill>
                  <a:srgbClr val="1A2233"/>
                </a:solidFill>
              </a:rPr>
              <a:t>Per-class AUC (OvR)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60120"/>
            <a:ext cx="11301984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>
                <a:solidFill>
                  <a:srgbClr val="0073E6"/>
                </a:solidFill>
              </a:rPr>
              <a:t>Binary one-vs-rest AUC per jet class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1188.0" y="1325880"/>
          <a:ext cx="11576298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52208"/>
                <a:gridCol w="972409"/>
                <a:gridCol w="972409"/>
                <a:gridCol w="972409"/>
                <a:gridCol w="972409"/>
                <a:gridCol w="972409"/>
                <a:gridCol w="972409"/>
                <a:gridCol w="972409"/>
                <a:gridCol w="972409"/>
                <a:gridCol w="972409"/>
                <a:gridCol w="972409"/>
              </a:tblGrid>
              <a:tr h="640080">
                <a:tc>
                  <a:txBody>
                    <a:bodyPr wrap="none"/>
                    <a:lstStyle/>
                    <a:p>
                      <a:pPr algn="ctr"/>
                      <a:r>
                        <a:rPr sz="900" b="1">
                          <a:solidFill>
                            <a:srgbClr val="1E40AF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dbeafe"/>
                    </a:solidFill>
                    <a:lnL w="6350">
                      <a:solidFill>
                        <a:srgbClr val="e2e8f0"/>
                      </a:solidFill>
                    </a:lnL>
                    <a:lnR w="6350">
                      <a:solidFill>
                        <a:srgbClr val="e2e8f0"/>
                      </a:solidFill>
                    </a:lnR>
                    <a:lnT w="6350">
                      <a:solidFill>
                        <a:srgbClr val="e2e8f0"/>
                      </a:solidFill>
                    </a:lnT>
                    <a:lnB w="6350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1E40AF"/>
                          </a:solidFill>
                        </a:rPr>
                        <a:t>QCD</a:t>
                      </a:r>
                    </a:p>
                  </a:txBody>
                  <a:tcPr>
                    <a:solidFill>
                      <a:srgbClr val="dbeafe"/>
                    </a:solidFill>
                    <a:lnL w="6350">
                      <a:solidFill>
                        <a:srgbClr val="e2e8f0"/>
                      </a:solidFill>
                    </a:lnL>
                    <a:lnR w="6350">
                      <a:solidFill>
                        <a:srgbClr val="e2e8f0"/>
                      </a:solidFill>
                    </a:lnR>
                    <a:lnT w="6350">
                      <a:solidFill>
                        <a:srgbClr val="e2e8f0"/>
                      </a:solidFill>
                    </a:lnT>
                    <a:lnB w="6350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1E40AF"/>
                          </a:solidFill>
                        </a:rPr>
                        <a:t>Hbb</a:t>
                      </a:r>
                    </a:p>
                  </a:txBody>
                  <a:tcPr>
                    <a:solidFill>
                      <a:srgbClr val="dbeafe"/>
                    </a:solidFill>
                    <a:lnL w="6350">
                      <a:solidFill>
                        <a:srgbClr val="e2e8f0"/>
                      </a:solidFill>
                    </a:lnL>
                    <a:lnR w="6350">
                      <a:solidFill>
                        <a:srgbClr val="e2e8f0"/>
                      </a:solidFill>
                    </a:lnR>
                    <a:lnT w="6350">
                      <a:solidFill>
                        <a:srgbClr val="e2e8f0"/>
                      </a:solidFill>
                    </a:lnT>
                    <a:lnB w="6350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1E40AF"/>
                          </a:solidFill>
                        </a:rPr>
                        <a:t>Hcc</a:t>
                      </a:r>
                    </a:p>
                  </a:txBody>
                  <a:tcPr>
                    <a:solidFill>
                      <a:srgbClr val="dbeafe"/>
                    </a:solidFill>
                    <a:lnL w="6350">
                      <a:solidFill>
                        <a:srgbClr val="e2e8f0"/>
                      </a:solidFill>
                    </a:lnL>
                    <a:lnR w="6350">
                      <a:solidFill>
                        <a:srgbClr val="e2e8f0"/>
                      </a:solidFill>
                    </a:lnR>
                    <a:lnT w="6350">
                      <a:solidFill>
                        <a:srgbClr val="e2e8f0"/>
                      </a:solidFill>
                    </a:lnT>
                    <a:lnB w="6350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1E40AF"/>
                          </a:solidFill>
                        </a:rPr>
                        <a:t>Hgg</a:t>
                      </a:r>
                    </a:p>
                  </a:txBody>
                  <a:tcPr>
                    <a:solidFill>
                      <a:srgbClr val="dbeafe"/>
                    </a:solidFill>
                    <a:lnL w="6350">
                      <a:solidFill>
                        <a:srgbClr val="e2e8f0"/>
                      </a:solidFill>
                    </a:lnL>
                    <a:lnR w="6350">
                      <a:solidFill>
                        <a:srgbClr val="e2e8f0"/>
                      </a:solidFill>
                    </a:lnR>
                    <a:lnT w="6350">
                      <a:solidFill>
                        <a:srgbClr val="e2e8f0"/>
                      </a:solidFill>
                    </a:lnT>
                    <a:lnB w="6350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1E40AF"/>
                          </a:solidFill>
                        </a:rPr>
                        <a:t>H4q</a:t>
                      </a:r>
                    </a:p>
                  </a:txBody>
                  <a:tcPr>
                    <a:solidFill>
                      <a:srgbClr val="dbeafe"/>
                    </a:solidFill>
                    <a:lnL w="6350">
                      <a:solidFill>
                        <a:srgbClr val="e2e8f0"/>
                      </a:solidFill>
                    </a:lnL>
                    <a:lnR w="6350">
                      <a:solidFill>
                        <a:srgbClr val="e2e8f0"/>
                      </a:solidFill>
                    </a:lnR>
                    <a:lnT w="6350">
                      <a:solidFill>
                        <a:srgbClr val="e2e8f0"/>
                      </a:solidFill>
                    </a:lnT>
                    <a:lnB w="6350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1E40AF"/>
                          </a:solidFill>
                        </a:rPr>
                        <a:t>Hqql</a:t>
                      </a:r>
                    </a:p>
                  </a:txBody>
                  <a:tcPr>
                    <a:solidFill>
                      <a:srgbClr val="dbeafe"/>
                    </a:solidFill>
                    <a:lnL w="6350">
                      <a:solidFill>
                        <a:srgbClr val="e2e8f0"/>
                      </a:solidFill>
                    </a:lnL>
                    <a:lnR w="6350">
                      <a:solidFill>
                        <a:srgbClr val="e2e8f0"/>
                      </a:solidFill>
                    </a:lnR>
                    <a:lnT w="6350">
                      <a:solidFill>
                        <a:srgbClr val="e2e8f0"/>
                      </a:solidFill>
                    </a:lnT>
                    <a:lnB w="6350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1E40AF"/>
                          </a:solidFill>
                        </a:rPr>
                        <a:t>Zqq</a:t>
                      </a:r>
                    </a:p>
                  </a:txBody>
                  <a:tcPr>
                    <a:solidFill>
                      <a:srgbClr val="dbeafe"/>
                    </a:solidFill>
                    <a:lnL w="6350">
                      <a:solidFill>
                        <a:srgbClr val="e2e8f0"/>
                      </a:solidFill>
                    </a:lnL>
                    <a:lnR w="6350">
                      <a:solidFill>
                        <a:srgbClr val="e2e8f0"/>
                      </a:solidFill>
                    </a:lnR>
                    <a:lnT w="6350">
                      <a:solidFill>
                        <a:srgbClr val="e2e8f0"/>
                      </a:solidFill>
                    </a:lnT>
                    <a:lnB w="6350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1E40AF"/>
                          </a:solidFill>
                        </a:rPr>
                        <a:t>Wqq</a:t>
                      </a:r>
                    </a:p>
                  </a:txBody>
                  <a:tcPr>
                    <a:solidFill>
                      <a:srgbClr val="dbeafe"/>
                    </a:solidFill>
                    <a:lnL w="6350">
                      <a:solidFill>
                        <a:srgbClr val="e2e8f0"/>
                      </a:solidFill>
                    </a:lnL>
                    <a:lnR w="6350">
                      <a:solidFill>
                        <a:srgbClr val="e2e8f0"/>
                      </a:solidFill>
                    </a:lnR>
                    <a:lnT w="6350">
                      <a:solidFill>
                        <a:srgbClr val="e2e8f0"/>
                      </a:solidFill>
                    </a:lnT>
                    <a:lnB w="6350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1E40AF"/>
                          </a:solidFill>
                        </a:rPr>
                        <a:t>Tbqq</a:t>
                      </a:r>
                    </a:p>
                  </a:txBody>
                  <a:tcPr>
                    <a:solidFill>
                      <a:srgbClr val="dbeafe"/>
                    </a:solidFill>
                    <a:lnL w="6350">
                      <a:solidFill>
                        <a:srgbClr val="e2e8f0"/>
                      </a:solidFill>
                    </a:lnL>
                    <a:lnR w="6350">
                      <a:solidFill>
                        <a:srgbClr val="e2e8f0"/>
                      </a:solidFill>
                    </a:lnR>
                    <a:lnT w="6350">
                      <a:solidFill>
                        <a:srgbClr val="e2e8f0"/>
                      </a:solidFill>
                    </a:lnT>
                    <a:lnB w="6350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1E40AF"/>
                          </a:solidFill>
                        </a:rPr>
                        <a:t>Tbl</a:t>
                      </a:r>
                    </a:p>
                  </a:txBody>
                  <a:tcPr>
                    <a:solidFill>
                      <a:srgbClr val="dbeafe"/>
                    </a:solidFill>
                    <a:lnL w="6350">
                      <a:solidFill>
                        <a:srgbClr val="e2e8f0"/>
                      </a:solidFill>
                    </a:lnL>
                    <a:lnR w="6350">
                      <a:solidFill>
                        <a:srgbClr val="e2e8f0"/>
                      </a:solidFill>
                    </a:lnR>
                    <a:lnT w="6350">
                      <a:solidFill>
                        <a:srgbClr val="e2e8f0"/>
                      </a:solidFill>
                    </a:lnT>
                    <a:lnB w="6350">
                      <a:solidFill>
                        <a:srgbClr val="e2e8f0"/>
                      </a:solidFill>
                    </a:lnB>
                  </a:tcPr>
                </a:tc>
              </a:tr>
              <a:tr h="640080">
                <a:tc>
                  <a:txBody>
                    <a:bodyPr wrap="none"/>
                    <a:lstStyle/>
                    <a:p>
                      <a:pPr algn="l"/>
                      <a:r>
                        <a:rPr sz="900" b="1">
                          <a:solidFill>
                            <a:srgbClr val="0073E6"/>
                          </a:solidFill>
                        </a:rPr>
                        <a:t>Full prec.</a:t>
                      </a:r>
                    </a:p>
                  </a:txBody>
                  <a:tcPr>
                    <a:solidFill>
                      <a:srgbClr val="eff6ff"/>
                    </a:solidFill>
                    <a:lnL w="6350">
                      <a:solidFill>
                        <a:srgbClr val="e2e8f0"/>
                      </a:solidFill>
                    </a:lnL>
                    <a:lnR w="6350">
                      <a:solidFill>
                        <a:srgbClr val="e2e8f0"/>
                      </a:solidFill>
                    </a:lnR>
                    <a:lnT w="6350">
                      <a:solidFill>
                        <a:srgbClr val="e2e8f0"/>
                      </a:solidFill>
                    </a:lnT>
                    <a:lnB w="6350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1">
                          <a:solidFill>
                            <a:srgbClr val="0073E6"/>
                          </a:solidFill>
                        </a:rPr>
                        <a:t>0.97825</a:t>
                      </a:r>
                    </a:p>
                  </a:txBody>
                  <a:tcPr>
                    <a:solidFill>
                      <a:srgbClr val="eff6ff"/>
                    </a:solidFill>
                    <a:lnL w="6350">
                      <a:solidFill>
                        <a:srgbClr val="e2e8f0"/>
                      </a:solidFill>
                    </a:lnL>
                    <a:lnR w="6350">
                      <a:solidFill>
                        <a:srgbClr val="e2e8f0"/>
                      </a:solidFill>
                    </a:lnR>
                    <a:lnT w="6350">
                      <a:solidFill>
                        <a:srgbClr val="e2e8f0"/>
                      </a:solidFill>
                    </a:lnT>
                    <a:lnB w="6350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1">
                          <a:solidFill>
                            <a:srgbClr val="0073E6"/>
                          </a:solidFill>
                        </a:rPr>
                        <a:t>0.99713</a:t>
                      </a:r>
                    </a:p>
                  </a:txBody>
                  <a:tcPr>
                    <a:solidFill>
                      <a:srgbClr val="eff6ff"/>
                    </a:solidFill>
                    <a:lnL w="6350">
                      <a:solidFill>
                        <a:srgbClr val="e2e8f0"/>
                      </a:solidFill>
                    </a:lnL>
                    <a:lnR w="6350">
                      <a:solidFill>
                        <a:srgbClr val="e2e8f0"/>
                      </a:solidFill>
                    </a:lnR>
                    <a:lnT w="6350">
                      <a:solidFill>
                        <a:srgbClr val="e2e8f0"/>
                      </a:solidFill>
                    </a:lnT>
                    <a:lnB w="6350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1">
                          <a:solidFill>
                            <a:srgbClr val="0073E6"/>
                          </a:solidFill>
                        </a:rPr>
                        <a:t>0.98790</a:t>
                      </a:r>
                    </a:p>
                  </a:txBody>
                  <a:tcPr>
                    <a:solidFill>
                      <a:srgbClr val="eff6ff"/>
                    </a:solidFill>
                    <a:lnL w="6350">
                      <a:solidFill>
                        <a:srgbClr val="e2e8f0"/>
                      </a:solidFill>
                    </a:lnL>
                    <a:lnR w="6350">
                      <a:solidFill>
                        <a:srgbClr val="e2e8f0"/>
                      </a:solidFill>
                    </a:lnR>
                    <a:lnT w="6350">
                      <a:solidFill>
                        <a:srgbClr val="e2e8f0"/>
                      </a:solidFill>
                    </a:lnT>
                    <a:lnB w="6350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1">
                          <a:solidFill>
                            <a:srgbClr val="0073E6"/>
                          </a:solidFill>
                        </a:rPr>
                        <a:t>0.98007</a:t>
                      </a:r>
                    </a:p>
                  </a:txBody>
                  <a:tcPr>
                    <a:solidFill>
                      <a:srgbClr val="eff6ff"/>
                    </a:solidFill>
                    <a:lnL w="6350">
                      <a:solidFill>
                        <a:srgbClr val="e2e8f0"/>
                      </a:solidFill>
                    </a:lnL>
                    <a:lnR w="6350">
                      <a:solidFill>
                        <a:srgbClr val="e2e8f0"/>
                      </a:solidFill>
                    </a:lnR>
                    <a:lnT w="6350">
                      <a:solidFill>
                        <a:srgbClr val="e2e8f0"/>
                      </a:solidFill>
                    </a:lnT>
                    <a:lnB w="6350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1">
                          <a:solidFill>
                            <a:srgbClr val="0073E6"/>
                          </a:solidFill>
                        </a:rPr>
                        <a:t>0.98880</a:t>
                      </a:r>
                    </a:p>
                  </a:txBody>
                  <a:tcPr>
                    <a:solidFill>
                      <a:srgbClr val="eff6ff"/>
                    </a:solidFill>
                    <a:lnL w="6350">
                      <a:solidFill>
                        <a:srgbClr val="e2e8f0"/>
                      </a:solidFill>
                    </a:lnL>
                    <a:lnR w="6350">
                      <a:solidFill>
                        <a:srgbClr val="e2e8f0"/>
                      </a:solidFill>
                    </a:lnR>
                    <a:lnT w="6350">
                      <a:solidFill>
                        <a:srgbClr val="e2e8f0"/>
                      </a:solidFill>
                    </a:lnT>
                    <a:lnB w="6350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1">
                          <a:solidFill>
                            <a:srgbClr val="0073E6"/>
                          </a:solidFill>
                        </a:rPr>
                        <a:t>0.99957</a:t>
                      </a:r>
                    </a:p>
                  </a:txBody>
                  <a:tcPr>
                    <a:solidFill>
                      <a:srgbClr val="eff6ff"/>
                    </a:solidFill>
                    <a:lnL w="6350">
                      <a:solidFill>
                        <a:srgbClr val="e2e8f0"/>
                      </a:solidFill>
                    </a:lnL>
                    <a:lnR w="6350">
                      <a:solidFill>
                        <a:srgbClr val="e2e8f0"/>
                      </a:solidFill>
                    </a:lnR>
                    <a:lnT w="6350">
                      <a:solidFill>
                        <a:srgbClr val="e2e8f0"/>
                      </a:solidFill>
                    </a:lnT>
                    <a:lnB w="6350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1">
                          <a:solidFill>
                            <a:srgbClr val="0073E6"/>
                          </a:solidFill>
                        </a:rPr>
                        <a:t>0.96695</a:t>
                      </a:r>
                    </a:p>
                  </a:txBody>
                  <a:tcPr>
                    <a:solidFill>
                      <a:srgbClr val="eff6ff"/>
                    </a:solidFill>
                    <a:lnL w="6350">
                      <a:solidFill>
                        <a:srgbClr val="e2e8f0"/>
                      </a:solidFill>
                    </a:lnL>
                    <a:lnR w="6350">
                      <a:solidFill>
                        <a:srgbClr val="e2e8f0"/>
                      </a:solidFill>
                    </a:lnR>
                    <a:lnT w="6350">
                      <a:solidFill>
                        <a:srgbClr val="e2e8f0"/>
                      </a:solidFill>
                    </a:lnT>
                    <a:lnB w="6350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1">
                          <a:solidFill>
                            <a:srgbClr val="0073E6"/>
                          </a:solidFill>
                        </a:rPr>
                        <a:t>0.98013</a:t>
                      </a:r>
                    </a:p>
                  </a:txBody>
                  <a:tcPr>
                    <a:solidFill>
                      <a:srgbClr val="eff6ff"/>
                    </a:solidFill>
                    <a:lnL w="6350">
                      <a:solidFill>
                        <a:srgbClr val="e2e8f0"/>
                      </a:solidFill>
                    </a:lnL>
                    <a:lnR w="6350">
                      <a:solidFill>
                        <a:srgbClr val="e2e8f0"/>
                      </a:solidFill>
                    </a:lnR>
                    <a:lnT w="6350">
                      <a:solidFill>
                        <a:srgbClr val="e2e8f0"/>
                      </a:solidFill>
                    </a:lnT>
                    <a:lnB w="6350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1">
                          <a:solidFill>
                            <a:srgbClr val="0073E6"/>
                          </a:solidFill>
                        </a:rPr>
                        <a:t>0.99854</a:t>
                      </a:r>
                    </a:p>
                  </a:txBody>
                  <a:tcPr>
                    <a:solidFill>
                      <a:srgbClr val="eff6ff"/>
                    </a:solidFill>
                    <a:lnL w="6350">
                      <a:solidFill>
                        <a:srgbClr val="e2e8f0"/>
                      </a:solidFill>
                    </a:lnL>
                    <a:lnR w="6350">
                      <a:solidFill>
                        <a:srgbClr val="e2e8f0"/>
                      </a:solidFill>
                    </a:lnR>
                    <a:lnT w="6350">
                      <a:solidFill>
                        <a:srgbClr val="e2e8f0"/>
                      </a:solidFill>
                    </a:lnT>
                    <a:lnB w="6350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1">
                          <a:solidFill>
                            <a:srgbClr val="0073E6"/>
                          </a:solidFill>
                        </a:rPr>
                        <a:t>0.99987</a:t>
                      </a:r>
                    </a:p>
                  </a:txBody>
                  <a:tcPr>
                    <a:solidFill>
                      <a:srgbClr val="eff6ff"/>
                    </a:solidFill>
                    <a:lnL w="6350">
                      <a:solidFill>
                        <a:srgbClr val="e2e8f0"/>
                      </a:solidFill>
                    </a:lnL>
                    <a:lnR w="6350">
                      <a:solidFill>
                        <a:srgbClr val="e2e8f0"/>
                      </a:solidFill>
                    </a:lnR>
                    <a:lnT w="6350">
                      <a:solidFill>
                        <a:srgbClr val="e2e8f0"/>
                      </a:solidFill>
                    </a:lnT>
                    <a:lnB w="6350">
                      <a:solidFill>
                        <a:srgbClr val="e2e8f0"/>
                      </a:solidFill>
                    </a:lnB>
                  </a:tcPr>
                </a:tc>
              </a:tr>
              <a:tr h="640080">
                <a:tc>
                  <a:txBody>
                    <a:bodyPr wrap="none"/>
                    <a:lstStyle/>
                    <a:p>
                      <a:pPr algn="l"/>
                      <a:r>
                        <a:rPr sz="900" b="0">
                          <a:solidFill>
                            <a:srgbClr val="1A2233"/>
                          </a:solidFill>
                        </a:rPr>
                        <a:t>wf = 2</a:t>
                      </a:r>
                    </a:p>
                  </a:txBody>
                  <a:tcPr>
                    <a:solidFill>
                      <a:srgbClr val="f1f5f9"/>
                    </a:solidFill>
                    <a:lnL w="6350">
                      <a:solidFill>
                        <a:srgbClr val="e2e8f0"/>
                      </a:solidFill>
                    </a:lnL>
                    <a:lnR w="6350">
                      <a:solidFill>
                        <a:srgbClr val="e2e8f0"/>
                      </a:solidFill>
                    </a:lnR>
                    <a:lnT w="6350">
                      <a:solidFill>
                        <a:srgbClr val="e2e8f0"/>
                      </a:solidFill>
                    </a:lnT>
                    <a:lnB w="6350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1A2233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1f5f9"/>
                    </a:solidFill>
                    <a:lnL w="6350">
                      <a:solidFill>
                        <a:srgbClr val="e2e8f0"/>
                      </a:solidFill>
                    </a:lnL>
                    <a:lnR w="6350">
                      <a:solidFill>
                        <a:srgbClr val="e2e8f0"/>
                      </a:solidFill>
                    </a:lnR>
                    <a:lnT w="6350">
                      <a:solidFill>
                        <a:srgbClr val="e2e8f0"/>
                      </a:solidFill>
                    </a:lnT>
                    <a:lnB w="6350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1A2233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1f5f9"/>
                    </a:solidFill>
                    <a:lnL w="6350">
                      <a:solidFill>
                        <a:srgbClr val="e2e8f0"/>
                      </a:solidFill>
                    </a:lnL>
                    <a:lnR w="6350">
                      <a:solidFill>
                        <a:srgbClr val="e2e8f0"/>
                      </a:solidFill>
                    </a:lnR>
                    <a:lnT w="6350">
                      <a:solidFill>
                        <a:srgbClr val="e2e8f0"/>
                      </a:solidFill>
                    </a:lnT>
                    <a:lnB w="6350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1A2233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1f5f9"/>
                    </a:solidFill>
                    <a:lnL w="6350">
                      <a:solidFill>
                        <a:srgbClr val="e2e8f0"/>
                      </a:solidFill>
                    </a:lnL>
                    <a:lnR w="6350">
                      <a:solidFill>
                        <a:srgbClr val="e2e8f0"/>
                      </a:solidFill>
                    </a:lnR>
                    <a:lnT w="6350">
                      <a:solidFill>
                        <a:srgbClr val="e2e8f0"/>
                      </a:solidFill>
                    </a:lnT>
                    <a:lnB w="6350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1A2233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1f5f9"/>
                    </a:solidFill>
                    <a:lnL w="6350">
                      <a:solidFill>
                        <a:srgbClr val="e2e8f0"/>
                      </a:solidFill>
                    </a:lnL>
                    <a:lnR w="6350">
                      <a:solidFill>
                        <a:srgbClr val="e2e8f0"/>
                      </a:solidFill>
                    </a:lnR>
                    <a:lnT w="6350">
                      <a:solidFill>
                        <a:srgbClr val="e2e8f0"/>
                      </a:solidFill>
                    </a:lnT>
                    <a:lnB w="6350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1A2233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1f5f9"/>
                    </a:solidFill>
                    <a:lnL w="6350">
                      <a:solidFill>
                        <a:srgbClr val="e2e8f0"/>
                      </a:solidFill>
                    </a:lnL>
                    <a:lnR w="6350">
                      <a:solidFill>
                        <a:srgbClr val="e2e8f0"/>
                      </a:solidFill>
                    </a:lnR>
                    <a:lnT w="6350">
                      <a:solidFill>
                        <a:srgbClr val="e2e8f0"/>
                      </a:solidFill>
                    </a:lnT>
                    <a:lnB w="6350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1A2233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1f5f9"/>
                    </a:solidFill>
                    <a:lnL w="6350">
                      <a:solidFill>
                        <a:srgbClr val="e2e8f0"/>
                      </a:solidFill>
                    </a:lnL>
                    <a:lnR w="6350">
                      <a:solidFill>
                        <a:srgbClr val="e2e8f0"/>
                      </a:solidFill>
                    </a:lnR>
                    <a:lnT w="6350">
                      <a:solidFill>
                        <a:srgbClr val="e2e8f0"/>
                      </a:solidFill>
                    </a:lnT>
                    <a:lnB w="6350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1A2233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1f5f9"/>
                    </a:solidFill>
                    <a:lnL w="6350">
                      <a:solidFill>
                        <a:srgbClr val="e2e8f0"/>
                      </a:solidFill>
                    </a:lnL>
                    <a:lnR w="6350">
                      <a:solidFill>
                        <a:srgbClr val="e2e8f0"/>
                      </a:solidFill>
                    </a:lnR>
                    <a:lnT w="6350">
                      <a:solidFill>
                        <a:srgbClr val="e2e8f0"/>
                      </a:solidFill>
                    </a:lnT>
                    <a:lnB w="6350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1A2233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1f5f9"/>
                    </a:solidFill>
                    <a:lnL w="6350">
                      <a:solidFill>
                        <a:srgbClr val="e2e8f0"/>
                      </a:solidFill>
                    </a:lnL>
                    <a:lnR w="6350">
                      <a:solidFill>
                        <a:srgbClr val="e2e8f0"/>
                      </a:solidFill>
                    </a:lnR>
                    <a:lnT w="6350">
                      <a:solidFill>
                        <a:srgbClr val="e2e8f0"/>
                      </a:solidFill>
                    </a:lnT>
                    <a:lnB w="6350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1A2233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1f5f9"/>
                    </a:solidFill>
                    <a:lnL w="6350">
                      <a:solidFill>
                        <a:srgbClr val="e2e8f0"/>
                      </a:solidFill>
                    </a:lnL>
                    <a:lnR w="6350">
                      <a:solidFill>
                        <a:srgbClr val="e2e8f0"/>
                      </a:solidFill>
                    </a:lnR>
                    <a:lnT w="6350">
                      <a:solidFill>
                        <a:srgbClr val="e2e8f0"/>
                      </a:solidFill>
                    </a:lnT>
                    <a:lnB w="6350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1A2233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1f5f9"/>
                    </a:solidFill>
                    <a:lnL w="6350">
                      <a:solidFill>
                        <a:srgbClr val="e2e8f0"/>
                      </a:solidFill>
                    </a:lnL>
                    <a:lnR w="6350">
                      <a:solidFill>
                        <a:srgbClr val="e2e8f0"/>
                      </a:solidFill>
                    </a:lnR>
                    <a:lnT w="6350">
                      <a:solidFill>
                        <a:srgbClr val="e2e8f0"/>
                      </a:solidFill>
                    </a:lnT>
                    <a:lnB w="6350">
                      <a:solidFill>
                        <a:srgbClr val="e2e8f0"/>
                      </a:solidFill>
                    </a:lnB>
                  </a:tcPr>
                </a:tc>
              </a:tr>
              <a:tr h="640080">
                <a:tc>
                  <a:txBody>
                    <a:bodyPr wrap="none"/>
                    <a:lstStyle/>
                    <a:p>
                      <a:pPr algn="l"/>
                      <a:r>
                        <a:rPr sz="900" b="0">
                          <a:solidFill>
                            <a:srgbClr val="1A2233"/>
                          </a:solidFill>
                        </a:rPr>
                        <a:t>wf = 4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2e8f0"/>
                      </a:solidFill>
                    </a:lnL>
                    <a:lnR w="6350">
                      <a:solidFill>
                        <a:srgbClr val="e2e8f0"/>
                      </a:solidFill>
                    </a:lnR>
                    <a:lnT w="6350">
                      <a:solidFill>
                        <a:srgbClr val="e2e8f0"/>
                      </a:solidFill>
                    </a:lnT>
                    <a:lnB w="6350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1A2233"/>
                          </a:solidFill>
                        </a:rPr>
                        <a:t>0.96754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2e8f0"/>
                      </a:solidFill>
                    </a:lnL>
                    <a:lnR w="6350">
                      <a:solidFill>
                        <a:srgbClr val="e2e8f0"/>
                      </a:solidFill>
                    </a:lnR>
                    <a:lnT w="6350">
                      <a:solidFill>
                        <a:srgbClr val="e2e8f0"/>
                      </a:solidFill>
                    </a:lnT>
                    <a:lnB w="6350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1A2233"/>
                          </a:solidFill>
                        </a:rPr>
                        <a:t>0.99088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2e8f0"/>
                      </a:solidFill>
                    </a:lnL>
                    <a:lnR w="6350">
                      <a:solidFill>
                        <a:srgbClr val="e2e8f0"/>
                      </a:solidFill>
                    </a:lnR>
                    <a:lnT w="6350">
                      <a:solidFill>
                        <a:srgbClr val="e2e8f0"/>
                      </a:solidFill>
                    </a:lnT>
                    <a:lnB w="6350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1A2233"/>
                          </a:solidFill>
                        </a:rPr>
                        <a:t>0.96821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2e8f0"/>
                      </a:solidFill>
                    </a:lnL>
                    <a:lnR w="6350">
                      <a:solidFill>
                        <a:srgbClr val="e2e8f0"/>
                      </a:solidFill>
                    </a:lnR>
                    <a:lnT w="6350">
                      <a:solidFill>
                        <a:srgbClr val="e2e8f0"/>
                      </a:solidFill>
                    </a:lnT>
                    <a:lnB w="6350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1A2233"/>
                          </a:solidFill>
                        </a:rPr>
                        <a:t>0.96842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2e8f0"/>
                      </a:solidFill>
                    </a:lnL>
                    <a:lnR w="6350">
                      <a:solidFill>
                        <a:srgbClr val="e2e8f0"/>
                      </a:solidFill>
                    </a:lnR>
                    <a:lnT w="6350">
                      <a:solidFill>
                        <a:srgbClr val="e2e8f0"/>
                      </a:solidFill>
                    </a:lnT>
                    <a:lnB w="6350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1A2233"/>
                          </a:solidFill>
                        </a:rPr>
                        <a:t>0.97866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2e8f0"/>
                      </a:solidFill>
                    </a:lnL>
                    <a:lnR w="6350">
                      <a:solidFill>
                        <a:srgbClr val="e2e8f0"/>
                      </a:solidFill>
                    </a:lnR>
                    <a:lnT w="6350">
                      <a:solidFill>
                        <a:srgbClr val="e2e8f0"/>
                      </a:solidFill>
                    </a:lnT>
                    <a:lnB w="6350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1A2233"/>
                          </a:solidFill>
                        </a:rPr>
                        <a:t>0.99857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2e8f0"/>
                      </a:solidFill>
                    </a:lnL>
                    <a:lnR w="6350">
                      <a:solidFill>
                        <a:srgbClr val="e2e8f0"/>
                      </a:solidFill>
                    </a:lnR>
                    <a:lnT w="6350">
                      <a:solidFill>
                        <a:srgbClr val="e2e8f0"/>
                      </a:solidFill>
                    </a:lnT>
                    <a:lnB w="6350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1A2233"/>
                          </a:solidFill>
                        </a:rPr>
                        <a:t>0.94355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2e8f0"/>
                      </a:solidFill>
                    </a:lnL>
                    <a:lnR w="6350">
                      <a:solidFill>
                        <a:srgbClr val="e2e8f0"/>
                      </a:solidFill>
                    </a:lnR>
                    <a:lnT w="6350">
                      <a:solidFill>
                        <a:srgbClr val="e2e8f0"/>
                      </a:solidFill>
                    </a:lnT>
                    <a:lnB w="6350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1A2233"/>
                          </a:solidFill>
                        </a:rPr>
                        <a:t>0.96737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2e8f0"/>
                      </a:solidFill>
                    </a:lnL>
                    <a:lnR w="6350">
                      <a:solidFill>
                        <a:srgbClr val="e2e8f0"/>
                      </a:solidFill>
                    </a:lnR>
                    <a:lnT w="6350">
                      <a:solidFill>
                        <a:srgbClr val="e2e8f0"/>
                      </a:solidFill>
                    </a:lnT>
                    <a:lnB w="6350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1A2233"/>
                          </a:solidFill>
                        </a:rPr>
                        <a:t>0.99533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2e8f0"/>
                      </a:solidFill>
                    </a:lnL>
                    <a:lnR w="6350">
                      <a:solidFill>
                        <a:srgbClr val="e2e8f0"/>
                      </a:solidFill>
                    </a:lnR>
                    <a:lnT w="6350">
                      <a:solidFill>
                        <a:srgbClr val="e2e8f0"/>
                      </a:solidFill>
                    </a:lnT>
                    <a:lnB w="6350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1A2233"/>
                          </a:solidFill>
                        </a:rPr>
                        <a:t>0.99944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2e8f0"/>
                      </a:solidFill>
                    </a:lnL>
                    <a:lnR w="6350">
                      <a:solidFill>
                        <a:srgbClr val="e2e8f0"/>
                      </a:solidFill>
                    </a:lnR>
                    <a:lnT w="6350">
                      <a:solidFill>
                        <a:srgbClr val="e2e8f0"/>
                      </a:solidFill>
                    </a:lnT>
                    <a:lnB w="6350">
                      <a:solidFill>
                        <a:srgbClr val="e2e8f0"/>
                      </a:solidFill>
                    </a:lnB>
                  </a:tcPr>
                </a:tc>
              </a:tr>
              <a:tr h="640080">
                <a:tc>
                  <a:txBody>
                    <a:bodyPr wrap="none"/>
                    <a:lstStyle/>
                    <a:p>
                      <a:pPr algn="l"/>
                      <a:r>
                        <a:rPr sz="900" b="0">
                          <a:solidFill>
                            <a:srgbClr val="1A2233"/>
                          </a:solidFill>
                        </a:rPr>
                        <a:t>wf = 6</a:t>
                      </a:r>
                    </a:p>
                  </a:txBody>
                  <a:tcPr>
                    <a:solidFill>
                      <a:srgbClr val="f1f5f9"/>
                    </a:solidFill>
                    <a:lnL w="6350">
                      <a:solidFill>
                        <a:srgbClr val="e2e8f0"/>
                      </a:solidFill>
                    </a:lnL>
                    <a:lnR w="6350">
                      <a:solidFill>
                        <a:srgbClr val="e2e8f0"/>
                      </a:solidFill>
                    </a:lnR>
                    <a:lnT w="6350">
                      <a:solidFill>
                        <a:srgbClr val="e2e8f0"/>
                      </a:solidFill>
                    </a:lnT>
                    <a:lnB w="6350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1A2233"/>
                          </a:solidFill>
                        </a:rPr>
                        <a:t>0.97099</a:t>
                      </a:r>
                    </a:p>
                  </a:txBody>
                  <a:tcPr>
                    <a:solidFill>
                      <a:srgbClr val="f1f5f9"/>
                    </a:solidFill>
                    <a:lnL w="6350">
                      <a:solidFill>
                        <a:srgbClr val="e2e8f0"/>
                      </a:solidFill>
                    </a:lnL>
                    <a:lnR w="6350">
                      <a:solidFill>
                        <a:srgbClr val="e2e8f0"/>
                      </a:solidFill>
                    </a:lnR>
                    <a:lnT w="6350">
                      <a:solidFill>
                        <a:srgbClr val="e2e8f0"/>
                      </a:solidFill>
                    </a:lnT>
                    <a:lnB w="6350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1A2233"/>
                          </a:solidFill>
                        </a:rPr>
                        <a:t>0.99302</a:t>
                      </a:r>
                    </a:p>
                  </a:txBody>
                  <a:tcPr>
                    <a:solidFill>
                      <a:srgbClr val="f1f5f9"/>
                    </a:solidFill>
                    <a:lnL w="6350">
                      <a:solidFill>
                        <a:srgbClr val="e2e8f0"/>
                      </a:solidFill>
                    </a:lnL>
                    <a:lnR w="6350">
                      <a:solidFill>
                        <a:srgbClr val="e2e8f0"/>
                      </a:solidFill>
                    </a:lnR>
                    <a:lnT w="6350">
                      <a:solidFill>
                        <a:srgbClr val="e2e8f0"/>
                      </a:solidFill>
                    </a:lnT>
                    <a:lnB w="6350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1A2233"/>
                          </a:solidFill>
                        </a:rPr>
                        <a:t>0.97487</a:t>
                      </a:r>
                    </a:p>
                  </a:txBody>
                  <a:tcPr>
                    <a:solidFill>
                      <a:srgbClr val="f1f5f9"/>
                    </a:solidFill>
                    <a:lnL w="6350">
                      <a:solidFill>
                        <a:srgbClr val="e2e8f0"/>
                      </a:solidFill>
                    </a:lnL>
                    <a:lnR w="6350">
                      <a:solidFill>
                        <a:srgbClr val="e2e8f0"/>
                      </a:solidFill>
                    </a:lnR>
                    <a:lnT w="6350">
                      <a:solidFill>
                        <a:srgbClr val="e2e8f0"/>
                      </a:solidFill>
                    </a:lnT>
                    <a:lnB w="6350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1A2233"/>
                          </a:solidFill>
                        </a:rPr>
                        <a:t>0.97175</a:t>
                      </a:r>
                    </a:p>
                  </a:txBody>
                  <a:tcPr>
                    <a:solidFill>
                      <a:srgbClr val="f1f5f9"/>
                    </a:solidFill>
                    <a:lnL w="6350">
                      <a:solidFill>
                        <a:srgbClr val="e2e8f0"/>
                      </a:solidFill>
                    </a:lnL>
                    <a:lnR w="6350">
                      <a:solidFill>
                        <a:srgbClr val="e2e8f0"/>
                      </a:solidFill>
                    </a:lnR>
                    <a:lnT w="6350">
                      <a:solidFill>
                        <a:srgbClr val="e2e8f0"/>
                      </a:solidFill>
                    </a:lnT>
                    <a:lnB w="6350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1A2233"/>
                          </a:solidFill>
                        </a:rPr>
                        <a:t>0.98196</a:t>
                      </a:r>
                    </a:p>
                  </a:txBody>
                  <a:tcPr>
                    <a:solidFill>
                      <a:srgbClr val="f1f5f9"/>
                    </a:solidFill>
                    <a:lnL w="6350">
                      <a:solidFill>
                        <a:srgbClr val="e2e8f0"/>
                      </a:solidFill>
                    </a:lnL>
                    <a:lnR w="6350">
                      <a:solidFill>
                        <a:srgbClr val="e2e8f0"/>
                      </a:solidFill>
                    </a:lnR>
                    <a:lnT w="6350">
                      <a:solidFill>
                        <a:srgbClr val="e2e8f0"/>
                      </a:solidFill>
                    </a:lnT>
                    <a:lnB w="6350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1A2233"/>
                          </a:solidFill>
                        </a:rPr>
                        <a:t>0.99899</a:t>
                      </a:r>
                    </a:p>
                  </a:txBody>
                  <a:tcPr>
                    <a:solidFill>
                      <a:srgbClr val="f1f5f9"/>
                    </a:solidFill>
                    <a:lnL w="6350">
                      <a:solidFill>
                        <a:srgbClr val="e2e8f0"/>
                      </a:solidFill>
                    </a:lnL>
                    <a:lnR w="6350">
                      <a:solidFill>
                        <a:srgbClr val="e2e8f0"/>
                      </a:solidFill>
                    </a:lnR>
                    <a:lnT w="6350">
                      <a:solidFill>
                        <a:srgbClr val="e2e8f0"/>
                      </a:solidFill>
                    </a:lnT>
                    <a:lnB w="6350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1A2233"/>
                          </a:solidFill>
                        </a:rPr>
                        <a:t>0.95220</a:t>
                      </a:r>
                    </a:p>
                  </a:txBody>
                  <a:tcPr>
                    <a:solidFill>
                      <a:srgbClr val="f1f5f9"/>
                    </a:solidFill>
                    <a:lnL w="6350">
                      <a:solidFill>
                        <a:srgbClr val="e2e8f0"/>
                      </a:solidFill>
                    </a:lnL>
                    <a:lnR w="6350">
                      <a:solidFill>
                        <a:srgbClr val="e2e8f0"/>
                      </a:solidFill>
                    </a:lnR>
                    <a:lnT w="6350">
                      <a:solidFill>
                        <a:srgbClr val="e2e8f0"/>
                      </a:solidFill>
                    </a:lnT>
                    <a:lnB w="6350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1A2233"/>
                          </a:solidFill>
                        </a:rPr>
                        <a:t>0.97089</a:t>
                      </a:r>
                    </a:p>
                  </a:txBody>
                  <a:tcPr>
                    <a:solidFill>
                      <a:srgbClr val="f1f5f9"/>
                    </a:solidFill>
                    <a:lnL w="6350">
                      <a:solidFill>
                        <a:srgbClr val="e2e8f0"/>
                      </a:solidFill>
                    </a:lnL>
                    <a:lnR w="6350">
                      <a:solidFill>
                        <a:srgbClr val="e2e8f0"/>
                      </a:solidFill>
                    </a:lnR>
                    <a:lnT w="6350">
                      <a:solidFill>
                        <a:srgbClr val="e2e8f0"/>
                      </a:solidFill>
                    </a:lnT>
                    <a:lnB w="6350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1A2233"/>
                          </a:solidFill>
                        </a:rPr>
                        <a:t>0.99644</a:t>
                      </a:r>
                    </a:p>
                  </a:txBody>
                  <a:tcPr>
                    <a:solidFill>
                      <a:srgbClr val="f1f5f9"/>
                    </a:solidFill>
                    <a:lnL w="6350">
                      <a:solidFill>
                        <a:srgbClr val="e2e8f0"/>
                      </a:solidFill>
                    </a:lnL>
                    <a:lnR w="6350">
                      <a:solidFill>
                        <a:srgbClr val="e2e8f0"/>
                      </a:solidFill>
                    </a:lnR>
                    <a:lnT w="6350">
                      <a:solidFill>
                        <a:srgbClr val="e2e8f0"/>
                      </a:solidFill>
                    </a:lnT>
                    <a:lnB w="6350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1A2233"/>
                          </a:solidFill>
                        </a:rPr>
                        <a:t>0.99959</a:t>
                      </a:r>
                    </a:p>
                  </a:txBody>
                  <a:tcPr>
                    <a:solidFill>
                      <a:srgbClr val="f1f5f9"/>
                    </a:solidFill>
                    <a:lnL w="6350">
                      <a:solidFill>
                        <a:srgbClr val="e2e8f0"/>
                      </a:solidFill>
                    </a:lnL>
                    <a:lnR w="6350">
                      <a:solidFill>
                        <a:srgbClr val="e2e8f0"/>
                      </a:solidFill>
                    </a:lnR>
                    <a:lnT w="6350">
                      <a:solidFill>
                        <a:srgbClr val="e2e8f0"/>
                      </a:solidFill>
                    </a:lnT>
                    <a:lnB w="6350">
                      <a:solidFill>
                        <a:srgbClr val="e2e8f0"/>
                      </a:solidFill>
                    </a:lnB>
                  </a:tcPr>
                </a:tc>
              </a:tr>
              <a:tr h="640080">
                <a:tc>
                  <a:txBody>
                    <a:bodyPr wrap="none"/>
                    <a:lstStyle/>
                    <a:p>
                      <a:pPr algn="l"/>
                      <a:r>
                        <a:rPr sz="900" b="0">
                          <a:solidFill>
                            <a:srgbClr val="1A2233"/>
                          </a:solidFill>
                        </a:rPr>
                        <a:t>wf = 8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2e8f0"/>
                      </a:solidFill>
                    </a:lnL>
                    <a:lnR w="6350">
                      <a:solidFill>
                        <a:srgbClr val="e2e8f0"/>
                      </a:solidFill>
                    </a:lnR>
                    <a:lnT w="6350">
                      <a:solidFill>
                        <a:srgbClr val="e2e8f0"/>
                      </a:solidFill>
                    </a:lnT>
                    <a:lnB w="6350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1A2233"/>
                          </a:solidFill>
                        </a:rPr>
                        <a:t>0.97113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2e8f0"/>
                      </a:solidFill>
                    </a:lnL>
                    <a:lnR w="6350">
                      <a:solidFill>
                        <a:srgbClr val="e2e8f0"/>
                      </a:solidFill>
                    </a:lnR>
                    <a:lnT w="6350">
                      <a:solidFill>
                        <a:srgbClr val="e2e8f0"/>
                      </a:solidFill>
                    </a:lnT>
                    <a:lnB w="6350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1A2233"/>
                          </a:solidFill>
                        </a:rPr>
                        <a:t>0.99309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2e8f0"/>
                      </a:solidFill>
                    </a:lnL>
                    <a:lnR w="6350">
                      <a:solidFill>
                        <a:srgbClr val="e2e8f0"/>
                      </a:solidFill>
                    </a:lnR>
                    <a:lnT w="6350">
                      <a:solidFill>
                        <a:srgbClr val="e2e8f0"/>
                      </a:solidFill>
                    </a:lnT>
                    <a:lnB w="6350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1A2233"/>
                          </a:solidFill>
                        </a:rPr>
                        <a:t>0.97516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2e8f0"/>
                      </a:solidFill>
                    </a:lnL>
                    <a:lnR w="6350">
                      <a:solidFill>
                        <a:srgbClr val="e2e8f0"/>
                      </a:solidFill>
                    </a:lnR>
                    <a:lnT w="6350">
                      <a:solidFill>
                        <a:srgbClr val="e2e8f0"/>
                      </a:solidFill>
                    </a:lnT>
                    <a:lnB w="6350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1A2233"/>
                          </a:solidFill>
                        </a:rPr>
                        <a:t>0.97180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2e8f0"/>
                      </a:solidFill>
                    </a:lnL>
                    <a:lnR w="6350">
                      <a:solidFill>
                        <a:srgbClr val="e2e8f0"/>
                      </a:solidFill>
                    </a:lnR>
                    <a:lnT w="6350">
                      <a:solidFill>
                        <a:srgbClr val="e2e8f0"/>
                      </a:solidFill>
                    </a:lnT>
                    <a:lnB w="6350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1A2233"/>
                          </a:solidFill>
                        </a:rPr>
                        <a:t>0.98185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2e8f0"/>
                      </a:solidFill>
                    </a:lnL>
                    <a:lnR w="6350">
                      <a:solidFill>
                        <a:srgbClr val="e2e8f0"/>
                      </a:solidFill>
                    </a:lnR>
                    <a:lnT w="6350">
                      <a:solidFill>
                        <a:srgbClr val="e2e8f0"/>
                      </a:solidFill>
                    </a:lnT>
                    <a:lnB w="6350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1A2233"/>
                          </a:solidFill>
                        </a:rPr>
                        <a:t>0.99902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2e8f0"/>
                      </a:solidFill>
                    </a:lnL>
                    <a:lnR w="6350">
                      <a:solidFill>
                        <a:srgbClr val="e2e8f0"/>
                      </a:solidFill>
                    </a:lnR>
                    <a:lnT w="6350">
                      <a:solidFill>
                        <a:srgbClr val="e2e8f0"/>
                      </a:solidFill>
                    </a:lnT>
                    <a:lnB w="6350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1A2233"/>
                          </a:solidFill>
                        </a:rPr>
                        <a:t>0.95294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2e8f0"/>
                      </a:solidFill>
                    </a:lnL>
                    <a:lnR w="6350">
                      <a:solidFill>
                        <a:srgbClr val="e2e8f0"/>
                      </a:solidFill>
                    </a:lnR>
                    <a:lnT w="6350">
                      <a:solidFill>
                        <a:srgbClr val="e2e8f0"/>
                      </a:solidFill>
                    </a:lnT>
                    <a:lnB w="6350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1A2233"/>
                          </a:solidFill>
                        </a:rPr>
                        <a:t>0.97146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2e8f0"/>
                      </a:solidFill>
                    </a:lnL>
                    <a:lnR w="6350">
                      <a:solidFill>
                        <a:srgbClr val="e2e8f0"/>
                      </a:solidFill>
                    </a:lnR>
                    <a:lnT w="6350">
                      <a:solidFill>
                        <a:srgbClr val="e2e8f0"/>
                      </a:solidFill>
                    </a:lnT>
                    <a:lnB w="6350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1A2233"/>
                          </a:solidFill>
                        </a:rPr>
                        <a:t>0.99647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2e8f0"/>
                      </a:solidFill>
                    </a:lnL>
                    <a:lnR w="6350">
                      <a:solidFill>
                        <a:srgbClr val="e2e8f0"/>
                      </a:solidFill>
                    </a:lnR>
                    <a:lnT w="6350">
                      <a:solidFill>
                        <a:srgbClr val="e2e8f0"/>
                      </a:solidFill>
                    </a:lnT>
                    <a:lnB w="6350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1A2233"/>
                          </a:solidFill>
                        </a:rPr>
                        <a:t>0.99961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2e8f0"/>
                      </a:solidFill>
                    </a:lnL>
                    <a:lnR w="6350">
                      <a:solidFill>
                        <a:srgbClr val="e2e8f0"/>
                      </a:solidFill>
                    </a:lnR>
                    <a:lnT w="6350">
                      <a:solidFill>
                        <a:srgbClr val="e2e8f0"/>
                      </a:solidFill>
                    </a:lnT>
                    <a:lnB w="6350">
                      <a:solidFill>
                        <a:srgbClr val="e2e8f0"/>
                      </a:solidFill>
                    </a:lnB>
                  </a:tcPr>
                </a:tc>
              </a:tr>
              <a:tr h="640080">
                <a:tc>
                  <a:txBody>
                    <a:bodyPr wrap="none"/>
                    <a:lstStyle/>
                    <a:p>
                      <a:pPr algn="l"/>
                      <a:r>
                        <a:rPr sz="900" b="0">
                          <a:solidFill>
                            <a:srgbClr val="1A2233"/>
                          </a:solidFill>
                        </a:rPr>
                        <a:t>wf = 10</a:t>
                      </a:r>
                    </a:p>
                  </a:txBody>
                  <a:tcPr>
                    <a:solidFill>
                      <a:srgbClr val="f1f5f9"/>
                    </a:solidFill>
                    <a:lnL w="6350">
                      <a:solidFill>
                        <a:srgbClr val="e2e8f0"/>
                      </a:solidFill>
                    </a:lnL>
                    <a:lnR w="6350">
                      <a:solidFill>
                        <a:srgbClr val="e2e8f0"/>
                      </a:solidFill>
                    </a:lnR>
                    <a:lnT w="6350">
                      <a:solidFill>
                        <a:srgbClr val="e2e8f0"/>
                      </a:solidFill>
                    </a:lnT>
                    <a:lnB w="6350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1A2233"/>
                          </a:solidFill>
                        </a:rPr>
                        <a:t>0.97125</a:t>
                      </a:r>
                    </a:p>
                  </a:txBody>
                  <a:tcPr>
                    <a:solidFill>
                      <a:srgbClr val="f1f5f9"/>
                    </a:solidFill>
                    <a:lnL w="6350">
                      <a:solidFill>
                        <a:srgbClr val="e2e8f0"/>
                      </a:solidFill>
                    </a:lnL>
                    <a:lnR w="6350">
                      <a:solidFill>
                        <a:srgbClr val="e2e8f0"/>
                      </a:solidFill>
                    </a:lnR>
                    <a:lnT w="6350">
                      <a:solidFill>
                        <a:srgbClr val="e2e8f0"/>
                      </a:solidFill>
                    </a:lnT>
                    <a:lnB w="6350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1A2233"/>
                          </a:solidFill>
                        </a:rPr>
                        <a:t>0.99316</a:t>
                      </a:r>
                    </a:p>
                  </a:txBody>
                  <a:tcPr>
                    <a:solidFill>
                      <a:srgbClr val="f1f5f9"/>
                    </a:solidFill>
                    <a:lnL w="6350">
                      <a:solidFill>
                        <a:srgbClr val="e2e8f0"/>
                      </a:solidFill>
                    </a:lnL>
                    <a:lnR w="6350">
                      <a:solidFill>
                        <a:srgbClr val="e2e8f0"/>
                      </a:solidFill>
                    </a:lnR>
                    <a:lnT w="6350">
                      <a:solidFill>
                        <a:srgbClr val="e2e8f0"/>
                      </a:solidFill>
                    </a:lnT>
                    <a:lnB w="6350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1A2233"/>
                          </a:solidFill>
                        </a:rPr>
                        <a:t>0.97544</a:t>
                      </a:r>
                    </a:p>
                  </a:txBody>
                  <a:tcPr>
                    <a:solidFill>
                      <a:srgbClr val="f1f5f9"/>
                    </a:solidFill>
                    <a:lnL w="6350">
                      <a:solidFill>
                        <a:srgbClr val="e2e8f0"/>
                      </a:solidFill>
                    </a:lnL>
                    <a:lnR w="6350">
                      <a:solidFill>
                        <a:srgbClr val="e2e8f0"/>
                      </a:solidFill>
                    </a:lnR>
                    <a:lnT w="6350">
                      <a:solidFill>
                        <a:srgbClr val="e2e8f0"/>
                      </a:solidFill>
                    </a:lnT>
                    <a:lnB w="6350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1A2233"/>
                          </a:solidFill>
                        </a:rPr>
                        <a:t>0.97203</a:t>
                      </a:r>
                    </a:p>
                  </a:txBody>
                  <a:tcPr>
                    <a:solidFill>
                      <a:srgbClr val="f1f5f9"/>
                    </a:solidFill>
                    <a:lnL w="6350">
                      <a:solidFill>
                        <a:srgbClr val="e2e8f0"/>
                      </a:solidFill>
                    </a:lnL>
                    <a:lnR w="6350">
                      <a:solidFill>
                        <a:srgbClr val="e2e8f0"/>
                      </a:solidFill>
                    </a:lnR>
                    <a:lnT w="6350">
                      <a:solidFill>
                        <a:srgbClr val="e2e8f0"/>
                      </a:solidFill>
                    </a:lnT>
                    <a:lnB w="6350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1A2233"/>
                          </a:solidFill>
                        </a:rPr>
                        <a:t>0.98210</a:t>
                      </a:r>
                    </a:p>
                  </a:txBody>
                  <a:tcPr>
                    <a:solidFill>
                      <a:srgbClr val="f1f5f9"/>
                    </a:solidFill>
                    <a:lnL w="6350">
                      <a:solidFill>
                        <a:srgbClr val="e2e8f0"/>
                      </a:solidFill>
                    </a:lnL>
                    <a:lnR w="6350">
                      <a:solidFill>
                        <a:srgbClr val="e2e8f0"/>
                      </a:solidFill>
                    </a:lnR>
                    <a:lnT w="6350">
                      <a:solidFill>
                        <a:srgbClr val="e2e8f0"/>
                      </a:solidFill>
                    </a:lnT>
                    <a:lnB w="6350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1A2233"/>
                          </a:solidFill>
                        </a:rPr>
                        <a:t>0.99903</a:t>
                      </a:r>
                    </a:p>
                  </a:txBody>
                  <a:tcPr>
                    <a:solidFill>
                      <a:srgbClr val="f1f5f9"/>
                    </a:solidFill>
                    <a:lnL w="6350">
                      <a:solidFill>
                        <a:srgbClr val="e2e8f0"/>
                      </a:solidFill>
                    </a:lnL>
                    <a:lnR w="6350">
                      <a:solidFill>
                        <a:srgbClr val="e2e8f0"/>
                      </a:solidFill>
                    </a:lnR>
                    <a:lnT w="6350">
                      <a:solidFill>
                        <a:srgbClr val="e2e8f0"/>
                      </a:solidFill>
                    </a:lnT>
                    <a:lnB w="6350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1A2233"/>
                          </a:solidFill>
                        </a:rPr>
                        <a:t>0.95299</a:t>
                      </a:r>
                    </a:p>
                  </a:txBody>
                  <a:tcPr>
                    <a:solidFill>
                      <a:srgbClr val="f1f5f9"/>
                    </a:solidFill>
                    <a:lnL w="6350">
                      <a:solidFill>
                        <a:srgbClr val="e2e8f0"/>
                      </a:solidFill>
                    </a:lnL>
                    <a:lnR w="6350">
                      <a:solidFill>
                        <a:srgbClr val="e2e8f0"/>
                      </a:solidFill>
                    </a:lnR>
                    <a:lnT w="6350">
                      <a:solidFill>
                        <a:srgbClr val="e2e8f0"/>
                      </a:solidFill>
                    </a:lnT>
                    <a:lnB w="6350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1A2233"/>
                          </a:solidFill>
                        </a:rPr>
                        <a:t>0.97150</a:t>
                      </a:r>
                    </a:p>
                  </a:txBody>
                  <a:tcPr>
                    <a:solidFill>
                      <a:srgbClr val="f1f5f9"/>
                    </a:solidFill>
                    <a:lnL w="6350">
                      <a:solidFill>
                        <a:srgbClr val="e2e8f0"/>
                      </a:solidFill>
                    </a:lnL>
                    <a:lnR w="6350">
                      <a:solidFill>
                        <a:srgbClr val="e2e8f0"/>
                      </a:solidFill>
                    </a:lnR>
                    <a:lnT w="6350">
                      <a:solidFill>
                        <a:srgbClr val="e2e8f0"/>
                      </a:solidFill>
                    </a:lnT>
                    <a:lnB w="6350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1A2233"/>
                          </a:solidFill>
                        </a:rPr>
                        <a:t>0.99650</a:t>
                      </a:r>
                    </a:p>
                  </a:txBody>
                  <a:tcPr>
                    <a:solidFill>
                      <a:srgbClr val="f1f5f9"/>
                    </a:solidFill>
                    <a:lnL w="6350">
                      <a:solidFill>
                        <a:srgbClr val="e2e8f0"/>
                      </a:solidFill>
                    </a:lnL>
                    <a:lnR w="6350">
                      <a:solidFill>
                        <a:srgbClr val="e2e8f0"/>
                      </a:solidFill>
                    </a:lnR>
                    <a:lnT w="6350">
                      <a:solidFill>
                        <a:srgbClr val="e2e8f0"/>
                      </a:solidFill>
                    </a:lnT>
                    <a:lnB w="6350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1A2233"/>
                          </a:solidFill>
                        </a:rPr>
                        <a:t>0.99961</a:t>
                      </a:r>
                    </a:p>
                  </a:txBody>
                  <a:tcPr>
                    <a:solidFill>
                      <a:srgbClr val="f1f5f9"/>
                    </a:solidFill>
                    <a:lnL w="6350">
                      <a:solidFill>
                        <a:srgbClr val="e2e8f0"/>
                      </a:solidFill>
                    </a:lnL>
                    <a:lnR w="6350">
                      <a:solidFill>
                        <a:srgbClr val="e2e8f0"/>
                      </a:solidFill>
                    </a:lnR>
                    <a:lnT w="6350">
                      <a:solidFill>
                        <a:srgbClr val="e2e8f0"/>
                      </a:solidFill>
                    </a:lnT>
                    <a:lnB w="6350">
                      <a:solidFill>
                        <a:srgbClr val="e2e8f0"/>
                      </a:solidFill>
                    </a:lnB>
                  </a:tcPr>
                </a:tc>
              </a:tr>
              <a:tr h="640080">
                <a:tc>
                  <a:txBody>
                    <a:bodyPr wrap="none"/>
                    <a:lstStyle/>
                    <a:p>
                      <a:pPr algn="l"/>
                      <a:r>
                        <a:rPr sz="900" b="0">
                          <a:solidFill>
                            <a:srgbClr val="1A2233"/>
                          </a:solidFill>
                        </a:rPr>
                        <a:t>wf = 12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2e8f0"/>
                      </a:solidFill>
                    </a:lnL>
                    <a:lnR w="6350">
                      <a:solidFill>
                        <a:srgbClr val="e2e8f0"/>
                      </a:solidFill>
                    </a:lnR>
                    <a:lnT w="6350">
                      <a:solidFill>
                        <a:srgbClr val="e2e8f0"/>
                      </a:solidFill>
                    </a:lnT>
                    <a:lnB w="6350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1A2233"/>
                          </a:solidFill>
                        </a:rPr>
                        <a:t>0.97121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2e8f0"/>
                      </a:solidFill>
                    </a:lnL>
                    <a:lnR w="6350">
                      <a:solidFill>
                        <a:srgbClr val="e2e8f0"/>
                      </a:solidFill>
                    </a:lnR>
                    <a:lnT w="6350">
                      <a:solidFill>
                        <a:srgbClr val="e2e8f0"/>
                      </a:solidFill>
                    </a:lnT>
                    <a:lnB w="6350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1A2233"/>
                          </a:solidFill>
                        </a:rPr>
                        <a:t>0.99310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2e8f0"/>
                      </a:solidFill>
                    </a:lnL>
                    <a:lnR w="6350">
                      <a:solidFill>
                        <a:srgbClr val="e2e8f0"/>
                      </a:solidFill>
                    </a:lnR>
                    <a:lnT w="6350">
                      <a:solidFill>
                        <a:srgbClr val="e2e8f0"/>
                      </a:solidFill>
                    </a:lnT>
                    <a:lnB w="6350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1A2233"/>
                          </a:solidFill>
                        </a:rPr>
                        <a:t>0.97518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2e8f0"/>
                      </a:solidFill>
                    </a:lnL>
                    <a:lnR w="6350">
                      <a:solidFill>
                        <a:srgbClr val="e2e8f0"/>
                      </a:solidFill>
                    </a:lnR>
                    <a:lnT w="6350">
                      <a:solidFill>
                        <a:srgbClr val="e2e8f0"/>
                      </a:solidFill>
                    </a:lnT>
                    <a:lnB w="6350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1A2233"/>
                          </a:solidFill>
                        </a:rPr>
                        <a:t>0.97186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2e8f0"/>
                      </a:solidFill>
                    </a:lnL>
                    <a:lnR w="6350">
                      <a:solidFill>
                        <a:srgbClr val="e2e8f0"/>
                      </a:solidFill>
                    </a:lnR>
                    <a:lnT w="6350">
                      <a:solidFill>
                        <a:srgbClr val="e2e8f0"/>
                      </a:solidFill>
                    </a:lnT>
                    <a:lnB w="6350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1A2233"/>
                          </a:solidFill>
                        </a:rPr>
                        <a:t>0.98200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2e8f0"/>
                      </a:solidFill>
                    </a:lnL>
                    <a:lnR w="6350">
                      <a:solidFill>
                        <a:srgbClr val="e2e8f0"/>
                      </a:solidFill>
                    </a:lnR>
                    <a:lnT w="6350">
                      <a:solidFill>
                        <a:srgbClr val="e2e8f0"/>
                      </a:solidFill>
                    </a:lnT>
                    <a:lnB w="6350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1A2233"/>
                          </a:solidFill>
                        </a:rPr>
                        <a:t>0.99903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2e8f0"/>
                      </a:solidFill>
                    </a:lnL>
                    <a:lnR w="6350">
                      <a:solidFill>
                        <a:srgbClr val="e2e8f0"/>
                      </a:solidFill>
                    </a:lnR>
                    <a:lnT w="6350">
                      <a:solidFill>
                        <a:srgbClr val="e2e8f0"/>
                      </a:solidFill>
                    </a:lnT>
                    <a:lnB w="6350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1A2233"/>
                          </a:solidFill>
                        </a:rPr>
                        <a:t>0.95300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2e8f0"/>
                      </a:solidFill>
                    </a:lnL>
                    <a:lnR w="6350">
                      <a:solidFill>
                        <a:srgbClr val="e2e8f0"/>
                      </a:solidFill>
                    </a:lnR>
                    <a:lnT w="6350">
                      <a:solidFill>
                        <a:srgbClr val="e2e8f0"/>
                      </a:solidFill>
                    </a:lnT>
                    <a:lnB w="6350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1A2233"/>
                          </a:solidFill>
                        </a:rPr>
                        <a:t>0.97151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2e8f0"/>
                      </a:solidFill>
                    </a:lnL>
                    <a:lnR w="6350">
                      <a:solidFill>
                        <a:srgbClr val="e2e8f0"/>
                      </a:solidFill>
                    </a:lnR>
                    <a:lnT w="6350">
                      <a:solidFill>
                        <a:srgbClr val="e2e8f0"/>
                      </a:solidFill>
                    </a:lnT>
                    <a:lnB w="6350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1A2233"/>
                          </a:solidFill>
                        </a:rPr>
                        <a:t>0.99651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2e8f0"/>
                      </a:solidFill>
                    </a:lnL>
                    <a:lnR w="6350">
                      <a:solidFill>
                        <a:srgbClr val="e2e8f0"/>
                      </a:solidFill>
                    </a:lnR>
                    <a:lnT w="6350">
                      <a:solidFill>
                        <a:srgbClr val="e2e8f0"/>
                      </a:solidFill>
                    </a:lnT>
                    <a:lnB w="6350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1A2233"/>
                          </a:solidFill>
                        </a:rPr>
                        <a:t>0.99960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2e8f0"/>
                      </a:solidFill>
                    </a:lnL>
                    <a:lnR w="6350">
                      <a:solidFill>
                        <a:srgbClr val="e2e8f0"/>
                      </a:solidFill>
                    </a:lnR>
                    <a:lnT w="6350">
                      <a:solidFill>
                        <a:srgbClr val="e2e8f0"/>
                      </a:solidFill>
                    </a:lnT>
                    <a:lnB w="6350">
                      <a:solidFill>
                        <a:srgbClr val="e2e8f0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12648" y="6473952"/>
            <a:ext cx="1107338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i="1">
                <a:solidFill>
                  <a:srgbClr val="9AACBB"/>
                </a:solidFill>
              </a:rPr>
              <a:t>FP baseline per-class AUC computed from pred.root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7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12648" y="301752"/>
            <a:ext cx="11301984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sz="2400">
                <a:solidFill>
                  <a:srgbClr val="1A2233"/>
                </a:solidFill>
              </a:rPr>
              <a:t>QCD rejection rate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60120"/>
            <a:ext cx="11301984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>
                <a:solidFill>
                  <a:srgbClr val="0073E6"/>
                </a:solidFill>
              </a:rPr>
              <a:t>1 / FPR vs QCD at per-class signal efficiency target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1188.0" y="1325880"/>
          <a:ext cx="11576303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52208"/>
                <a:gridCol w="1080455"/>
                <a:gridCol w="1080455"/>
                <a:gridCol w="1080455"/>
                <a:gridCol w="1080455"/>
                <a:gridCol w="1080455"/>
                <a:gridCol w="1080455"/>
                <a:gridCol w="1080455"/>
                <a:gridCol w="1080455"/>
                <a:gridCol w="1080455"/>
              </a:tblGrid>
              <a:tr h="628650">
                <a:tc>
                  <a:txBody>
                    <a:bodyPr wrap="none"/>
                    <a:lstStyle/>
                    <a:p>
                      <a:pPr algn="ctr"/>
                      <a:r>
                        <a:rPr sz="900" b="1">
                          <a:solidFill>
                            <a:srgbClr val="1E40AF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dbeafe"/>
                    </a:solidFill>
                    <a:lnL w="6350">
                      <a:solidFill>
                        <a:srgbClr val="e2e8f0"/>
                      </a:solidFill>
                    </a:lnL>
                    <a:lnR w="6350">
                      <a:solidFill>
                        <a:srgbClr val="e2e8f0"/>
                      </a:solidFill>
                    </a:lnR>
                    <a:lnT w="6350">
                      <a:solidFill>
                        <a:srgbClr val="e2e8f0"/>
                      </a:solidFill>
                    </a:lnT>
                    <a:lnB w="6350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1E40AF"/>
                          </a:solidFill>
                        </a:rPr>
                        <a:t>Hbb @50%</a:t>
                      </a:r>
                    </a:p>
                  </a:txBody>
                  <a:tcPr>
                    <a:solidFill>
                      <a:srgbClr val="dbeafe"/>
                    </a:solidFill>
                    <a:lnL w="6350">
                      <a:solidFill>
                        <a:srgbClr val="e2e8f0"/>
                      </a:solidFill>
                    </a:lnL>
                    <a:lnR w="6350">
                      <a:solidFill>
                        <a:srgbClr val="e2e8f0"/>
                      </a:solidFill>
                    </a:lnR>
                    <a:lnT w="6350">
                      <a:solidFill>
                        <a:srgbClr val="e2e8f0"/>
                      </a:solidFill>
                    </a:lnT>
                    <a:lnB w="6350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1E40AF"/>
                          </a:solidFill>
                        </a:rPr>
                        <a:t>Hcc @50%</a:t>
                      </a:r>
                    </a:p>
                  </a:txBody>
                  <a:tcPr>
                    <a:solidFill>
                      <a:srgbClr val="dbeafe"/>
                    </a:solidFill>
                    <a:lnL w="6350">
                      <a:solidFill>
                        <a:srgbClr val="e2e8f0"/>
                      </a:solidFill>
                    </a:lnL>
                    <a:lnR w="6350">
                      <a:solidFill>
                        <a:srgbClr val="e2e8f0"/>
                      </a:solidFill>
                    </a:lnR>
                    <a:lnT w="6350">
                      <a:solidFill>
                        <a:srgbClr val="e2e8f0"/>
                      </a:solidFill>
                    </a:lnT>
                    <a:lnB w="6350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1E40AF"/>
                          </a:solidFill>
                        </a:rPr>
                        <a:t>Hgg @50%</a:t>
                      </a:r>
                    </a:p>
                  </a:txBody>
                  <a:tcPr>
                    <a:solidFill>
                      <a:srgbClr val="dbeafe"/>
                    </a:solidFill>
                    <a:lnL w="6350">
                      <a:solidFill>
                        <a:srgbClr val="e2e8f0"/>
                      </a:solidFill>
                    </a:lnL>
                    <a:lnR w="6350">
                      <a:solidFill>
                        <a:srgbClr val="e2e8f0"/>
                      </a:solidFill>
                    </a:lnR>
                    <a:lnT w="6350">
                      <a:solidFill>
                        <a:srgbClr val="e2e8f0"/>
                      </a:solidFill>
                    </a:lnT>
                    <a:lnB w="6350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1E40AF"/>
                          </a:solidFill>
                        </a:rPr>
                        <a:t>H4q @50%</a:t>
                      </a:r>
                    </a:p>
                  </a:txBody>
                  <a:tcPr>
                    <a:solidFill>
                      <a:srgbClr val="dbeafe"/>
                    </a:solidFill>
                    <a:lnL w="6350">
                      <a:solidFill>
                        <a:srgbClr val="e2e8f0"/>
                      </a:solidFill>
                    </a:lnL>
                    <a:lnR w="6350">
                      <a:solidFill>
                        <a:srgbClr val="e2e8f0"/>
                      </a:solidFill>
                    </a:lnR>
                    <a:lnT w="6350">
                      <a:solidFill>
                        <a:srgbClr val="e2e8f0"/>
                      </a:solidFill>
                    </a:lnT>
                    <a:lnB w="6350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1E40AF"/>
                          </a:solidFill>
                        </a:rPr>
                        <a:t>Hqql @99%</a:t>
                      </a:r>
                    </a:p>
                  </a:txBody>
                  <a:tcPr>
                    <a:solidFill>
                      <a:srgbClr val="dbeafe"/>
                    </a:solidFill>
                    <a:lnL w="6350">
                      <a:solidFill>
                        <a:srgbClr val="e2e8f0"/>
                      </a:solidFill>
                    </a:lnL>
                    <a:lnR w="6350">
                      <a:solidFill>
                        <a:srgbClr val="e2e8f0"/>
                      </a:solidFill>
                    </a:lnR>
                    <a:lnT w="6350">
                      <a:solidFill>
                        <a:srgbClr val="e2e8f0"/>
                      </a:solidFill>
                    </a:lnT>
                    <a:lnB w="6350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1E40AF"/>
                          </a:solidFill>
                        </a:rPr>
                        <a:t>Zqq @50%</a:t>
                      </a:r>
                    </a:p>
                  </a:txBody>
                  <a:tcPr>
                    <a:solidFill>
                      <a:srgbClr val="dbeafe"/>
                    </a:solidFill>
                    <a:lnL w="6350">
                      <a:solidFill>
                        <a:srgbClr val="e2e8f0"/>
                      </a:solidFill>
                    </a:lnL>
                    <a:lnR w="6350">
                      <a:solidFill>
                        <a:srgbClr val="e2e8f0"/>
                      </a:solidFill>
                    </a:lnR>
                    <a:lnT w="6350">
                      <a:solidFill>
                        <a:srgbClr val="e2e8f0"/>
                      </a:solidFill>
                    </a:lnT>
                    <a:lnB w="6350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1E40AF"/>
                          </a:solidFill>
                        </a:rPr>
                        <a:t>Wqq @50%</a:t>
                      </a:r>
                    </a:p>
                  </a:txBody>
                  <a:tcPr>
                    <a:solidFill>
                      <a:srgbClr val="dbeafe"/>
                    </a:solidFill>
                    <a:lnL w="6350">
                      <a:solidFill>
                        <a:srgbClr val="e2e8f0"/>
                      </a:solidFill>
                    </a:lnL>
                    <a:lnR w="6350">
                      <a:solidFill>
                        <a:srgbClr val="e2e8f0"/>
                      </a:solidFill>
                    </a:lnR>
                    <a:lnT w="6350">
                      <a:solidFill>
                        <a:srgbClr val="e2e8f0"/>
                      </a:solidFill>
                    </a:lnT>
                    <a:lnB w="6350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1E40AF"/>
                          </a:solidFill>
                        </a:rPr>
                        <a:t>Tbqq @50%</a:t>
                      </a:r>
                    </a:p>
                  </a:txBody>
                  <a:tcPr>
                    <a:solidFill>
                      <a:srgbClr val="dbeafe"/>
                    </a:solidFill>
                    <a:lnL w="6350">
                      <a:solidFill>
                        <a:srgbClr val="e2e8f0"/>
                      </a:solidFill>
                    </a:lnL>
                    <a:lnR w="6350">
                      <a:solidFill>
                        <a:srgbClr val="e2e8f0"/>
                      </a:solidFill>
                    </a:lnR>
                    <a:lnT w="6350">
                      <a:solidFill>
                        <a:srgbClr val="e2e8f0"/>
                      </a:solidFill>
                    </a:lnT>
                    <a:lnB w="6350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1E40AF"/>
                          </a:solidFill>
                        </a:rPr>
                        <a:t>Tbl @99%</a:t>
                      </a:r>
                    </a:p>
                  </a:txBody>
                  <a:tcPr>
                    <a:solidFill>
                      <a:srgbClr val="dbeafe"/>
                    </a:solidFill>
                    <a:lnL w="6350">
                      <a:solidFill>
                        <a:srgbClr val="e2e8f0"/>
                      </a:solidFill>
                    </a:lnL>
                    <a:lnR w="6350">
                      <a:solidFill>
                        <a:srgbClr val="e2e8f0"/>
                      </a:solidFill>
                    </a:lnR>
                    <a:lnT w="6350">
                      <a:solidFill>
                        <a:srgbClr val="e2e8f0"/>
                      </a:solidFill>
                    </a:lnT>
                    <a:lnB w="6350">
                      <a:solidFill>
                        <a:srgbClr val="e2e8f0"/>
                      </a:solidFill>
                    </a:lnB>
                  </a:tcPr>
                </a:tc>
              </a:tr>
              <a:tr h="628650">
                <a:tc>
                  <a:txBody>
                    <a:bodyPr wrap="none"/>
                    <a:lstStyle/>
                    <a:p>
                      <a:pPr algn="l"/>
                      <a:r>
                        <a:rPr sz="900" b="1">
                          <a:solidFill>
                            <a:srgbClr val="0073E6"/>
                          </a:solidFill>
                        </a:rPr>
                        <a:t>Full prec.</a:t>
                      </a:r>
                    </a:p>
                  </a:txBody>
                  <a:tcPr>
                    <a:solidFill>
                      <a:srgbClr val="eff6ff"/>
                    </a:solidFill>
                    <a:lnL w="6350">
                      <a:solidFill>
                        <a:srgbClr val="e2e8f0"/>
                      </a:solidFill>
                    </a:lnL>
                    <a:lnR w="6350">
                      <a:solidFill>
                        <a:srgbClr val="e2e8f0"/>
                      </a:solidFill>
                    </a:lnR>
                    <a:lnT w="6350">
                      <a:solidFill>
                        <a:srgbClr val="e2e8f0"/>
                      </a:solidFill>
                    </a:lnT>
                    <a:lnB w="6350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1">
                          <a:solidFill>
                            <a:srgbClr val="0073E6"/>
                          </a:solidFill>
                        </a:rPr>
                        <a:t>10638.000</a:t>
                      </a:r>
                    </a:p>
                  </a:txBody>
                  <a:tcPr>
                    <a:solidFill>
                      <a:srgbClr val="eff6ff"/>
                    </a:solidFill>
                    <a:lnL w="6350">
                      <a:solidFill>
                        <a:srgbClr val="e2e8f0"/>
                      </a:solidFill>
                    </a:lnL>
                    <a:lnR w="6350">
                      <a:solidFill>
                        <a:srgbClr val="e2e8f0"/>
                      </a:solidFill>
                    </a:lnR>
                    <a:lnT w="6350">
                      <a:solidFill>
                        <a:srgbClr val="e2e8f0"/>
                      </a:solidFill>
                    </a:lnT>
                    <a:lnB w="6350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1">
                          <a:solidFill>
                            <a:srgbClr val="0073E6"/>
                          </a:solidFill>
                        </a:rPr>
                        <a:t>4149.000</a:t>
                      </a:r>
                    </a:p>
                  </a:txBody>
                  <a:tcPr>
                    <a:solidFill>
                      <a:srgbClr val="eff6ff"/>
                    </a:solidFill>
                    <a:lnL w="6350">
                      <a:solidFill>
                        <a:srgbClr val="e2e8f0"/>
                      </a:solidFill>
                    </a:lnL>
                    <a:lnR w="6350">
                      <a:solidFill>
                        <a:srgbClr val="e2e8f0"/>
                      </a:solidFill>
                    </a:lnR>
                    <a:lnT w="6350">
                      <a:solidFill>
                        <a:srgbClr val="e2e8f0"/>
                      </a:solidFill>
                    </a:lnT>
                    <a:lnB w="6350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1">
                          <a:solidFill>
                            <a:srgbClr val="0073E6"/>
                          </a:solidFill>
                        </a:rPr>
                        <a:t>123.000</a:t>
                      </a:r>
                    </a:p>
                  </a:txBody>
                  <a:tcPr>
                    <a:solidFill>
                      <a:srgbClr val="eff6ff"/>
                    </a:solidFill>
                    <a:lnL w="6350">
                      <a:solidFill>
                        <a:srgbClr val="e2e8f0"/>
                      </a:solidFill>
                    </a:lnL>
                    <a:lnR w="6350">
                      <a:solidFill>
                        <a:srgbClr val="e2e8f0"/>
                      </a:solidFill>
                    </a:lnR>
                    <a:lnT w="6350">
                      <a:solidFill>
                        <a:srgbClr val="e2e8f0"/>
                      </a:solidFill>
                    </a:lnT>
                    <a:lnB w="6350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1">
                          <a:solidFill>
                            <a:srgbClr val="0073E6"/>
                          </a:solidFill>
                        </a:rPr>
                        <a:t>1867.000</a:t>
                      </a:r>
                    </a:p>
                  </a:txBody>
                  <a:tcPr>
                    <a:solidFill>
                      <a:srgbClr val="eff6ff"/>
                    </a:solidFill>
                    <a:lnL w="6350">
                      <a:solidFill>
                        <a:srgbClr val="e2e8f0"/>
                      </a:solidFill>
                    </a:lnL>
                    <a:lnR w="6350">
                      <a:solidFill>
                        <a:srgbClr val="e2e8f0"/>
                      </a:solidFill>
                    </a:lnR>
                    <a:lnT w="6350">
                      <a:solidFill>
                        <a:srgbClr val="e2e8f0"/>
                      </a:solidFill>
                    </a:lnT>
                    <a:lnB w="6350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1">
                          <a:solidFill>
                            <a:srgbClr val="0073E6"/>
                          </a:solidFill>
                        </a:rPr>
                        <a:t>5420.000</a:t>
                      </a:r>
                    </a:p>
                  </a:txBody>
                  <a:tcPr>
                    <a:solidFill>
                      <a:srgbClr val="eff6ff"/>
                    </a:solidFill>
                    <a:lnL w="6350">
                      <a:solidFill>
                        <a:srgbClr val="e2e8f0"/>
                      </a:solidFill>
                    </a:lnL>
                    <a:lnR w="6350">
                      <a:solidFill>
                        <a:srgbClr val="e2e8f0"/>
                      </a:solidFill>
                    </a:lnR>
                    <a:lnT w="6350">
                      <a:solidFill>
                        <a:srgbClr val="e2e8f0"/>
                      </a:solidFill>
                    </a:lnT>
                    <a:lnB w="6350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1">
                          <a:solidFill>
                            <a:srgbClr val="0073E6"/>
                          </a:solidFill>
                        </a:rPr>
                        <a:t>402.000</a:t>
                      </a:r>
                    </a:p>
                  </a:txBody>
                  <a:tcPr>
                    <a:solidFill>
                      <a:srgbClr val="eff6ff"/>
                    </a:solidFill>
                    <a:lnL w="6350">
                      <a:solidFill>
                        <a:srgbClr val="e2e8f0"/>
                      </a:solidFill>
                    </a:lnL>
                    <a:lnR w="6350">
                      <a:solidFill>
                        <a:srgbClr val="e2e8f0"/>
                      </a:solidFill>
                    </a:lnR>
                    <a:lnT w="6350">
                      <a:solidFill>
                        <a:srgbClr val="e2e8f0"/>
                      </a:solidFill>
                    </a:lnT>
                    <a:lnB w="6350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1">
                          <a:solidFill>
                            <a:srgbClr val="0073E6"/>
                          </a:solidFill>
                        </a:rPr>
                        <a:t>543.000</a:t>
                      </a:r>
                    </a:p>
                  </a:txBody>
                  <a:tcPr>
                    <a:solidFill>
                      <a:srgbClr val="eff6ff"/>
                    </a:solidFill>
                    <a:lnL w="6350">
                      <a:solidFill>
                        <a:srgbClr val="e2e8f0"/>
                      </a:solidFill>
                    </a:lnL>
                    <a:lnR w="6350">
                      <a:solidFill>
                        <a:srgbClr val="e2e8f0"/>
                      </a:solidFill>
                    </a:lnR>
                    <a:lnT w="6350">
                      <a:solidFill>
                        <a:srgbClr val="e2e8f0"/>
                      </a:solidFill>
                    </a:lnT>
                    <a:lnB w="6350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1">
                          <a:solidFill>
                            <a:srgbClr val="0073E6"/>
                          </a:solidFill>
                        </a:rPr>
                        <a:t>32258.000</a:t>
                      </a:r>
                    </a:p>
                  </a:txBody>
                  <a:tcPr>
                    <a:solidFill>
                      <a:srgbClr val="eff6ff"/>
                    </a:solidFill>
                    <a:lnL w="6350">
                      <a:solidFill>
                        <a:srgbClr val="e2e8f0"/>
                      </a:solidFill>
                    </a:lnL>
                    <a:lnR w="6350">
                      <a:solidFill>
                        <a:srgbClr val="e2e8f0"/>
                      </a:solidFill>
                    </a:lnR>
                    <a:lnT w="6350">
                      <a:solidFill>
                        <a:srgbClr val="e2e8f0"/>
                      </a:solidFill>
                    </a:lnT>
                    <a:lnB w="6350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1">
                          <a:solidFill>
                            <a:srgbClr val="0073E6"/>
                          </a:solidFill>
                        </a:rPr>
                        <a:t>16260.000</a:t>
                      </a:r>
                    </a:p>
                  </a:txBody>
                  <a:tcPr>
                    <a:solidFill>
                      <a:srgbClr val="eff6ff"/>
                    </a:solidFill>
                    <a:lnL w="6350">
                      <a:solidFill>
                        <a:srgbClr val="e2e8f0"/>
                      </a:solidFill>
                    </a:lnL>
                    <a:lnR w="6350">
                      <a:solidFill>
                        <a:srgbClr val="e2e8f0"/>
                      </a:solidFill>
                    </a:lnR>
                    <a:lnT w="6350">
                      <a:solidFill>
                        <a:srgbClr val="e2e8f0"/>
                      </a:solidFill>
                    </a:lnT>
                    <a:lnB w="6350">
                      <a:solidFill>
                        <a:srgbClr val="e2e8f0"/>
                      </a:solidFill>
                    </a:lnB>
                  </a:tcPr>
                </a:tc>
              </a:tr>
              <a:tr h="628650">
                <a:tc>
                  <a:txBody>
                    <a:bodyPr wrap="none"/>
                    <a:lstStyle/>
                    <a:p>
                      <a:pPr algn="l"/>
                      <a:r>
                        <a:rPr sz="900" b="0">
                          <a:solidFill>
                            <a:srgbClr val="1A2233"/>
                          </a:solidFill>
                        </a:rPr>
                        <a:t>wf = 2</a:t>
                      </a:r>
                    </a:p>
                  </a:txBody>
                  <a:tcPr>
                    <a:solidFill>
                      <a:srgbClr val="f1f5f9"/>
                    </a:solidFill>
                    <a:lnL w="6350">
                      <a:solidFill>
                        <a:srgbClr val="e2e8f0"/>
                      </a:solidFill>
                    </a:lnL>
                    <a:lnR w="6350">
                      <a:solidFill>
                        <a:srgbClr val="e2e8f0"/>
                      </a:solidFill>
                    </a:lnR>
                    <a:lnT w="6350">
                      <a:solidFill>
                        <a:srgbClr val="e2e8f0"/>
                      </a:solidFill>
                    </a:lnT>
                    <a:lnB w="6350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1A2233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1f5f9"/>
                    </a:solidFill>
                    <a:lnL w="6350">
                      <a:solidFill>
                        <a:srgbClr val="e2e8f0"/>
                      </a:solidFill>
                    </a:lnL>
                    <a:lnR w="6350">
                      <a:solidFill>
                        <a:srgbClr val="e2e8f0"/>
                      </a:solidFill>
                    </a:lnR>
                    <a:lnT w="6350">
                      <a:solidFill>
                        <a:srgbClr val="e2e8f0"/>
                      </a:solidFill>
                    </a:lnT>
                    <a:lnB w="6350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1A2233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1f5f9"/>
                    </a:solidFill>
                    <a:lnL w="6350">
                      <a:solidFill>
                        <a:srgbClr val="e2e8f0"/>
                      </a:solidFill>
                    </a:lnL>
                    <a:lnR w="6350">
                      <a:solidFill>
                        <a:srgbClr val="e2e8f0"/>
                      </a:solidFill>
                    </a:lnR>
                    <a:lnT w="6350">
                      <a:solidFill>
                        <a:srgbClr val="e2e8f0"/>
                      </a:solidFill>
                    </a:lnT>
                    <a:lnB w="6350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1A2233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1f5f9"/>
                    </a:solidFill>
                    <a:lnL w="6350">
                      <a:solidFill>
                        <a:srgbClr val="e2e8f0"/>
                      </a:solidFill>
                    </a:lnL>
                    <a:lnR w="6350">
                      <a:solidFill>
                        <a:srgbClr val="e2e8f0"/>
                      </a:solidFill>
                    </a:lnR>
                    <a:lnT w="6350">
                      <a:solidFill>
                        <a:srgbClr val="e2e8f0"/>
                      </a:solidFill>
                    </a:lnT>
                    <a:lnB w="6350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1A2233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1f5f9"/>
                    </a:solidFill>
                    <a:lnL w="6350">
                      <a:solidFill>
                        <a:srgbClr val="e2e8f0"/>
                      </a:solidFill>
                    </a:lnL>
                    <a:lnR w="6350">
                      <a:solidFill>
                        <a:srgbClr val="e2e8f0"/>
                      </a:solidFill>
                    </a:lnR>
                    <a:lnT w="6350">
                      <a:solidFill>
                        <a:srgbClr val="e2e8f0"/>
                      </a:solidFill>
                    </a:lnT>
                    <a:lnB w="6350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1A2233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1f5f9"/>
                    </a:solidFill>
                    <a:lnL w="6350">
                      <a:solidFill>
                        <a:srgbClr val="e2e8f0"/>
                      </a:solidFill>
                    </a:lnL>
                    <a:lnR w="6350">
                      <a:solidFill>
                        <a:srgbClr val="e2e8f0"/>
                      </a:solidFill>
                    </a:lnR>
                    <a:lnT w="6350">
                      <a:solidFill>
                        <a:srgbClr val="e2e8f0"/>
                      </a:solidFill>
                    </a:lnT>
                    <a:lnB w="6350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1A2233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1f5f9"/>
                    </a:solidFill>
                    <a:lnL w="6350">
                      <a:solidFill>
                        <a:srgbClr val="e2e8f0"/>
                      </a:solidFill>
                    </a:lnL>
                    <a:lnR w="6350">
                      <a:solidFill>
                        <a:srgbClr val="e2e8f0"/>
                      </a:solidFill>
                    </a:lnR>
                    <a:lnT w="6350">
                      <a:solidFill>
                        <a:srgbClr val="e2e8f0"/>
                      </a:solidFill>
                    </a:lnT>
                    <a:lnB w="6350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1A2233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1f5f9"/>
                    </a:solidFill>
                    <a:lnL w="6350">
                      <a:solidFill>
                        <a:srgbClr val="e2e8f0"/>
                      </a:solidFill>
                    </a:lnL>
                    <a:lnR w="6350">
                      <a:solidFill>
                        <a:srgbClr val="e2e8f0"/>
                      </a:solidFill>
                    </a:lnR>
                    <a:lnT w="6350">
                      <a:solidFill>
                        <a:srgbClr val="e2e8f0"/>
                      </a:solidFill>
                    </a:lnT>
                    <a:lnB w="6350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1A2233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1f5f9"/>
                    </a:solidFill>
                    <a:lnL w="6350">
                      <a:solidFill>
                        <a:srgbClr val="e2e8f0"/>
                      </a:solidFill>
                    </a:lnL>
                    <a:lnR w="6350">
                      <a:solidFill>
                        <a:srgbClr val="e2e8f0"/>
                      </a:solidFill>
                    </a:lnR>
                    <a:lnT w="6350">
                      <a:solidFill>
                        <a:srgbClr val="e2e8f0"/>
                      </a:solidFill>
                    </a:lnT>
                    <a:lnB w="6350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1A2233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1f5f9"/>
                    </a:solidFill>
                    <a:lnL w="6350">
                      <a:solidFill>
                        <a:srgbClr val="e2e8f0"/>
                      </a:solidFill>
                    </a:lnL>
                    <a:lnR w="6350">
                      <a:solidFill>
                        <a:srgbClr val="e2e8f0"/>
                      </a:solidFill>
                    </a:lnR>
                    <a:lnT w="6350">
                      <a:solidFill>
                        <a:srgbClr val="e2e8f0"/>
                      </a:solidFill>
                    </a:lnT>
                    <a:lnB w="6350">
                      <a:solidFill>
                        <a:srgbClr val="e2e8f0"/>
                      </a:solidFill>
                    </a:lnB>
                  </a:tcPr>
                </a:tc>
              </a:tr>
              <a:tr h="628650">
                <a:tc>
                  <a:txBody>
                    <a:bodyPr wrap="none"/>
                    <a:lstStyle/>
                    <a:p>
                      <a:pPr algn="l"/>
                      <a:r>
                        <a:rPr sz="900" b="0">
                          <a:solidFill>
                            <a:srgbClr val="1A2233"/>
                          </a:solidFill>
                        </a:rPr>
                        <a:t>wf = 4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2e8f0"/>
                      </a:solidFill>
                    </a:lnL>
                    <a:lnR w="6350">
                      <a:solidFill>
                        <a:srgbClr val="e2e8f0"/>
                      </a:solidFill>
                    </a:lnR>
                    <a:lnT w="6350">
                      <a:solidFill>
                        <a:srgbClr val="e2e8f0"/>
                      </a:solidFill>
                    </a:lnT>
                    <a:lnB w="6350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1A2233"/>
                          </a:solidFill>
                        </a:rPr>
                        <a:t>2624.672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2e8f0"/>
                      </a:solidFill>
                    </a:lnL>
                    <a:lnR w="6350">
                      <a:solidFill>
                        <a:srgbClr val="e2e8f0"/>
                      </a:solidFill>
                    </a:lnR>
                    <a:lnT w="6350">
                      <a:solidFill>
                        <a:srgbClr val="e2e8f0"/>
                      </a:solidFill>
                    </a:lnT>
                    <a:lnB w="6350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1A2233"/>
                          </a:solidFill>
                        </a:rPr>
                        <a:t>383.215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2e8f0"/>
                      </a:solidFill>
                    </a:lnL>
                    <a:lnR w="6350">
                      <a:solidFill>
                        <a:srgbClr val="e2e8f0"/>
                      </a:solidFill>
                    </a:lnR>
                    <a:lnT w="6350">
                      <a:solidFill>
                        <a:srgbClr val="e2e8f0"/>
                      </a:solidFill>
                    </a:lnT>
                    <a:lnB w="6350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1A2233"/>
                          </a:solidFill>
                        </a:rPr>
                        <a:t>38.040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2e8f0"/>
                      </a:solidFill>
                    </a:lnL>
                    <a:lnR w="6350">
                      <a:solidFill>
                        <a:srgbClr val="e2e8f0"/>
                      </a:solidFill>
                    </a:lnR>
                    <a:lnT w="6350">
                      <a:solidFill>
                        <a:srgbClr val="e2e8f0"/>
                      </a:solidFill>
                    </a:lnT>
                    <a:lnB w="6350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1A2233"/>
                          </a:solidFill>
                        </a:rPr>
                        <a:t>276.091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2e8f0"/>
                      </a:solidFill>
                    </a:lnL>
                    <a:lnR w="6350">
                      <a:solidFill>
                        <a:srgbClr val="e2e8f0"/>
                      </a:solidFill>
                    </a:lnR>
                    <a:lnT w="6350">
                      <a:solidFill>
                        <a:srgbClr val="e2e8f0"/>
                      </a:solidFill>
                    </a:lnT>
                    <a:lnB w="6350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1A2233"/>
                          </a:solidFill>
                        </a:rPr>
                        <a:t>159.261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2e8f0"/>
                      </a:solidFill>
                    </a:lnL>
                    <a:lnR w="6350">
                      <a:solidFill>
                        <a:srgbClr val="e2e8f0"/>
                      </a:solidFill>
                    </a:lnR>
                    <a:lnT w="6350">
                      <a:solidFill>
                        <a:srgbClr val="e2e8f0"/>
                      </a:solidFill>
                    </a:lnT>
                    <a:lnB w="6350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1A2233"/>
                          </a:solidFill>
                        </a:rPr>
                        <a:t>56.865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2e8f0"/>
                      </a:solidFill>
                    </a:lnL>
                    <a:lnR w="6350">
                      <a:solidFill>
                        <a:srgbClr val="e2e8f0"/>
                      </a:solidFill>
                    </a:lnR>
                    <a:lnT w="6350">
                      <a:solidFill>
                        <a:srgbClr val="e2e8f0"/>
                      </a:solidFill>
                    </a:lnT>
                    <a:lnB w="6350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1A2233"/>
                          </a:solidFill>
                        </a:rPr>
                        <a:t>46.404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2e8f0"/>
                      </a:solidFill>
                    </a:lnL>
                    <a:lnR w="6350">
                      <a:solidFill>
                        <a:srgbClr val="e2e8f0"/>
                      </a:solidFill>
                    </a:lnR>
                    <a:lnT w="6350">
                      <a:solidFill>
                        <a:srgbClr val="e2e8f0"/>
                      </a:solidFill>
                    </a:lnT>
                    <a:lnB w="6350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1A2233"/>
                          </a:solidFill>
                        </a:rPr>
                        <a:t>2339.181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2e8f0"/>
                      </a:solidFill>
                    </a:lnL>
                    <a:lnR w="6350">
                      <a:solidFill>
                        <a:srgbClr val="e2e8f0"/>
                      </a:solidFill>
                    </a:lnR>
                    <a:lnT w="6350">
                      <a:solidFill>
                        <a:srgbClr val="e2e8f0"/>
                      </a:solidFill>
                    </a:lnT>
                    <a:lnB w="6350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1A2233"/>
                          </a:solidFill>
                        </a:rPr>
                        <a:t>88.539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2e8f0"/>
                      </a:solidFill>
                    </a:lnL>
                    <a:lnR w="6350">
                      <a:solidFill>
                        <a:srgbClr val="e2e8f0"/>
                      </a:solidFill>
                    </a:lnR>
                    <a:lnT w="6350">
                      <a:solidFill>
                        <a:srgbClr val="e2e8f0"/>
                      </a:solidFill>
                    </a:lnT>
                    <a:lnB w="6350">
                      <a:solidFill>
                        <a:srgbClr val="e2e8f0"/>
                      </a:solidFill>
                    </a:lnB>
                  </a:tcPr>
                </a:tc>
              </a:tr>
              <a:tr h="628650">
                <a:tc>
                  <a:txBody>
                    <a:bodyPr wrap="none"/>
                    <a:lstStyle/>
                    <a:p>
                      <a:pPr algn="l"/>
                      <a:r>
                        <a:rPr sz="900" b="0">
                          <a:solidFill>
                            <a:srgbClr val="1A2233"/>
                          </a:solidFill>
                        </a:rPr>
                        <a:t>wf = 6</a:t>
                      </a:r>
                    </a:p>
                  </a:txBody>
                  <a:tcPr>
                    <a:solidFill>
                      <a:srgbClr val="f1f5f9"/>
                    </a:solidFill>
                    <a:lnL w="6350">
                      <a:solidFill>
                        <a:srgbClr val="e2e8f0"/>
                      </a:solidFill>
                    </a:lnL>
                    <a:lnR w="6350">
                      <a:solidFill>
                        <a:srgbClr val="e2e8f0"/>
                      </a:solidFill>
                    </a:lnR>
                    <a:lnT w="6350">
                      <a:solidFill>
                        <a:srgbClr val="e2e8f0"/>
                      </a:solidFill>
                    </a:lnT>
                    <a:lnB w="6350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1A2233"/>
                          </a:solidFill>
                        </a:rPr>
                        <a:t>2985.075</a:t>
                      </a:r>
                    </a:p>
                  </a:txBody>
                  <a:tcPr>
                    <a:solidFill>
                      <a:srgbClr val="f1f5f9"/>
                    </a:solidFill>
                    <a:lnL w="6350">
                      <a:solidFill>
                        <a:srgbClr val="e2e8f0"/>
                      </a:solidFill>
                    </a:lnL>
                    <a:lnR w="6350">
                      <a:solidFill>
                        <a:srgbClr val="e2e8f0"/>
                      </a:solidFill>
                    </a:lnR>
                    <a:lnT w="6350">
                      <a:solidFill>
                        <a:srgbClr val="e2e8f0"/>
                      </a:solidFill>
                    </a:lnT>
                    <a:lnB w="6350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1A2233"/>
                          </a:solidFill>
                        </a:rPr>
                        <a:t>520.291</a:t>
                      </a:r>
                    </a:p>
                  </a:txBody>
                  <a:tcPr>
                    <a:solidFill>
                      <a:srgbClr val="f1f5f9"/>
                    </a:solidFill>
                    <a:lnL w="6350">
                      <a:solidFill>
                        <a:srgbClr val="e2e8f0"/>
                      </a:solidFill>
                    </a:lnL>
                    <a:lnR w="6350">
                      <a:solidFill>
                        <a:srgbClr val="e2e8f0"/>
                      </a:solidFill>
                    </a:lnR>
                    <a:lnT w="6350">
                      <a:solidFill>
                        <a:srgbClr val="e2e8f0"/>
                      </a:solidFill>
                    </a:lnT>
                    <a:lnB w="6350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1A2233"/>
                          </a:solidFill>
                        </a:rPr>
                        <a:t>45.367</a:t>
                      </a:r>
                    </a:p>
                  </a:txBody>
                  <a:tcPr>
                    <a:solidFill>
                      <a:srgbClr val="f1f5f9"/>
                    </a:solidFill>
                    <a:lnL w="6350">
                      <a:solidFill>
                        <a:srgbClr val="e2e8f0"/>
                      </a:solidFill>
                    </a:lnL>
                    <a:lnR w="6350">
                      <a:solidFill>
                        <a:srgbClr val="e2e8f0"/>
                      </a:solidFill>
                    </a:lnR>
                    <a:lnT w="6350">
                      <a:solidFill>
                        <a:srgbClr val="e2e8f0"/>
                      </a:solidFill>
                    </a:lnT>
                    <a:lnB w="6350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1A2233"/>
                          </a:solidFill>
                        </a:rPr>
                        <a:t>339.559</a:t>
                      </a:r>
                    </a:p>
                  </a:txBody>
                  <a:tcPr>
                    <a:solidFill>
                      <a:srgbClr val="f1f5f9"/>
                    </a:solidFill>
                    <a:lnL w="6350">
                      <a:solidFill>
                        <a:srgbClr val="e2e8f0"/>
                      </a:solidFill>
                    </a:lnL>
                    <a:lnR w="6350">
                      <a:solidFill>
                        <a:srgbClr val="e2e8f0"/>
                      </a:solidFill>
                    </a:lnR>
                    <a:lnT w="6350">
                      <a:solidFill>
                        <a:srgbClr val="e2e8f0"/>
                      </a:solidFill>
                    </a:lnT>
                    <a:lnB w="6350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1A2233"/>
                          </a:solidFill>
                        </a:rPr>
                        <a:t>296.868</a:t>
                      </a:r>
                    </a:p>
                  </a:txBody>
                  <a:tcPr>
                    <a:solidFill>
                      <a:srgbClr val="f1f5f9"/>
                    </a:solidFill>
                    <a:lnL w="6350">
                      <a:solidFill>
                        <a:srgbClr val="e2e8f0"/>
                      </a:solidFill>
                    </a:lnL>
                    <a:lnR w="6350">
                      <a:solidFill>
                        <a:srgbClr val="e2e8f0"/>
                      </a:solidFill>
                    </a:lnR>
                    <a:lnT w="6350">
                      <a:solidFill>
                        <a:srgbClr val="e2e8f0"/>
                      </a:solidFill>
                    </a:lnT>
                    <a:lnB w="6350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1A2233"/>
                          </a:solidFill>
                        </a:rPr>
                        <a:t>59.457</a:t>
                      </a:r>
                    </a:p>
                  </a:txBody>
                  <a:tcPr>
                    <a:solidFill>
                      <a:srgbClr val="f1f5f9"/>
                    </a:solidFill>
                    <a:lnL w="6350">
                      <a:solidFill>
                        <a:srgbClr val="e2e8f0"/>
                      </a:solidFill>
                    </a:lnL>
                    <a:lnR w="6350">
                      <a:solidFill>
                        <a:srgbClr val="e2e8f0"/>
                      </a:solidFill>
                    </a:lnR>
                    <a:lnT w="6350">
                      <a:solidFill>
                        <a:srgbClr val="e2e8f0"/>
                      </a:solidFill>
                    </a:lnT>
                    <a:lnB w="6350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1A2233"/>
                          </a:solidFill>
                        </a:rPr>
                        <a:t>112.290</a:t>
                      </a:r>
                    </a:p>
                  </a:txBody>
                  <a:tcPr>
                    <a:solidFill>
                      <a:srgbClr val="f1f5f9"/>
                    </a:solidFill>
                    <a:lnL w="6350">
                      <a:solidFill>
                        <a:srgbClr val="e2e8f0"/>
                      </a:solidFill>
                    </a:lnL>
                    <a:lnR w="6350">
                      <a:solidFill>
                        <a:srgbClr val="e2e8f0"/>
                      </a:solidFill>
                    </a:lnR>
                    <a:lnT w="6350">
                      <a:solidFill>
                        <a:srgbClr val="e2e8f0"/>
                      </a:solidFill>
                    </a:lnT>
                    <a:lnB w="6350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1A2233"/>
                          </a:solidFill>
                        </a:rPr>
                        <a:t>3012.048</a:t>
                      </a:r>
                    </a:p>
                  </a:txBody>
                  <a:tcPr>
                    <a:solidFill>
                      <a:srgbClr val="f1f5f9"/>
                    </a:solidFill>
                    <a:lnL w="6350">
                      <a:solidFill>
                        <a:srgbClr val="e2e8f0"/>
                      </a:solidFill>
                    </a:lnL>
                    <a:lnR w="6350">
                      <a:solidFill>
                        <a:srgbClr val="e2e8f0"/>
                      </a:solidFill>
                    </a:lnR>
                    <a:lnT w="6350">
                      <a:solidFill>
                        <a:srgbClr val="e2e8f0"/>
                      </a:solidFill>
                    </a:lnT>
                    <a:lnB w="6350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1A2233"/>
                          </a:solidFill>
                        </a:rPr>
                        <a:t>163.092</a:t>
                      </a:r>
                    </a:p>
                  </a:txBody>
                  <a:tcPr>
                    <a:solidFill>
                      <a:srgbClr val="f1f5f9"/>
                    </a:solidFill>
                    <a:lnL w="6350">
                      <a:solidFill>
                        <a:srgbClr val="e2e8f0"/>
                      </a:solidFill>
                    </a:lnL>
                    <a:lnR w="6350">
                      <a:solidFill>
                        <a:srgbClr val="e2e8f0"/>
                      </a:solidFill>
                    </a:lnR>
                    <a:lnT w="6350">
                      <a:solidFill>
                        <a:srgbClr val="e2e8f0"/>
                      </a:solidFill>
                    </a:lnT>
                    <a:lnB w="6350">
                      <a:solidFill>
                        <a:srgbClr val="e2e8f0"/>
                      </a:solidFill>
                    </a:lnB>
                  </a:tcPr>
                </a:tc>
              </a:tr>
              <a:tr h="628650">
                <a:tc>
                  <a:txBody>
                    <a:bodyPr wrap="none"/>
                    <a:lstStyle/>
                    <a:p>
                      <a:pPr algn="l"/>
                      <a:r>
                        <a:rPr sz="900" b="0">
                          <a:solidFill>
                            <a:srgbClr val="1A2233"/>
                          </a:solidFill>
                        </a:rPr>
                        <a:t>wf = 8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2e8f0"/>
                      </a:solidFill>
                    </a:lnL>
                    <a:lnR w="6350">
                      <a:solidFill>
                        <a:srgbClr val="e2e8f0"/>
                      </a:solidFill>
                    </a:lnR>
                    <a:lnT w="6350">
                      <a:solidFill>
                        <a:srgbClr val="e2e8f0"/>
                      </a:solidFill>
                    </a:lnT>
                    <a:lnB w="6350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1A2233"/>
                          </a:solidFill>
                        </a:rPr>
                        <a:t>2628.121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2e8f0"/>
                      </a:solidFill>
                    </a:lnL>
                    <a:lnR w="6350">
                      <a:solidFill>
                        <a:srgbClr val="e2e8f0"/>
                      </a:solidFill>
                    </a:lnR>
                    <a:lnT w="6350">
                      <a:solidFill>
                        <a:srgbClr val="e2e8f0"/>
                      </a:solidFill>
                    </a:lnT>
                    <a:lnB w="6350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1A2233"/>
                          </a:solidFill>
                        </a:rPr>
                        <a:t>487.805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2e8f0"/>
                      </a:solidFill>
                    </a:lnL>
                    <a:lnR w="6350">
                      <a:solidFill>
                        <a:srgbClr val="e2e8f0"/>
                      </a:solidFill>
                    </a:lnR>
                    <a:lnT w="6350">
                      <a:solidFill>
                        <a:srgbClr val="e2e8f0"/>
                      </a:solidFill>
                    </a:lnT>
                    <a:lnB w="6350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1A2233"/>
                          </a:solidFill>
                        </a:rPr>
                        <a:t>46.059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2e8f0"/>
                      </a:solidFill>
                    </a:lnL>
                    <a:lnR w="6350">
                      <a:solidFill>
                        <a:srgbClr val="e2e8f0"/>
                      </a:solidFill>
                    </a:lnR>
                    <a:lnT w="6350">
                      <a:solidFill>
                        <a:srgbClr val="e2e8f0"/>
                      </a:solidFill>
                    </a:lnT>
                    <a:lnB w="6350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1A2233"/>
                          </a:solidFill>
                        </a:rPr>
                        <a:t>335.233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2e8f0"/>
                      </a:solidFill>
                    </a:lnL>
                    <a:lnR w="6350">
                      <a:solidFill>
                        <a:srgbClr val="e2e8f0"/>
                      </a:solidFill>
                    </a:lnR>
                    <a:lnT w="6350">
                      <a:solidFill>
                        <a:srgbClr val="e2e8f0"/>
                      </a:solidFill>
                    </a:lnT>
                    <a:lnB w="6350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1A2233"/>
                          </a:solidFill>
                        </a:rPr>
                        <a:t>293.513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2e8f0"/>
                      </a:solidFill>
                    </a:lnL>
                    <a:lnR w="6350">
                      <a:solidFill>
                        <a:srgbClr val="e2e8f0"/>
                      </a:solidFill>
                    </a:lnR>
                    <a:lnT w="6350">
                      <a:solidFill>
                        <a:srgbClr val="e2e8f0"/>
                      </a:solidFill>
                    </a:lnT>
                    <a:lnB w="6350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1A2233"/>
                          </a:solidFill>
                        </a:rPr>
                        <a:t>64.779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2e8f0"/>
                      </a:solidFill>
                    </a:lnL>
                    <a:lnR w="6350">
                      <a:solidFill>
                        <a:srgbClr val="e2e8f0"/>
                      </a:solidFill>
                    </a:lnR>
                    <a:lnT w="6350">
                      <a:solidFill>
                        <a:srgbClr val="e2e8f0"/>
                      </a:solidFill>
                    </a:lnT>
                    <a:lnB w="6350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1A2233"/>
                          </a:solidFill>
                        </a:rPr>
                        <a:t>105.180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2e8f0"/>
                      </a:solidFill>
                    </a:lnL>
                    <a:lnR w="6350">
                      <a:solidFill>
                        <a:srgbClr val="e2e8f0"/>
                      </a:solidFill>
                    </a:lnR>
                    <a:lnT w="6350">
                      <a:solidFill>
                        <a:srgbClr val="e2e8f0"/>
                      </a:solidFill>
                    </a:lnT>
                    <a:lnB w="6350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1A2233"/>
                          </a:solidFill>
                        </a:rPr>
                        <a:t>3372.681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2e8f0"/>
                      </a:solidFill>
                    </a:lnL>
                    <a:lnR w="6350">
                      <a:solidFill>
                        <a:srgbClr val="e2e8f0"/>
                      </a:solidFill>
                    </a:lnR>
                    <a:lnT w="6350">
                      <a:solidFill>
                        <a:srgbClr val="e2e8f0"/>
                      </a:solidFill>
                    </a:lnT>
                    <a:lnB w="6350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1A2233"/>
                          </a:solidFill>
                        </a:rPr>
                        <a:t>158.115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2e8f0"/>
                      </a:solidFill>
                    </a:lnL>
                    <a:lnR w="6350">
                      <a:solidFill>
                        <a:srgbClr val="e2e8f0"/>
                      </a:solidFill>
                    </a:lnR>
                    <a:lnT w="6350">
                      <a:solidFill>
                        <a:srgbClr val="e2e8f0"/>
                      </a:solidFill>
                    </a:lnT>
                    <a:lnB w="6350">
                      <a:solidFill>
                        <a:srgbClr val="e2e8f0"/>
                      </a:solidFill>
                    </a:lnB>
                  </a:tcPr>
                </a:tc>
              </a:tr>
              <a:tr h="628650">
                <a:tc>
                  <a:txBody>
                    <a:bodyPr wrap="none"/>
                    <a:lstStyle/>
                    <a:p>
                      <a:pPr algn="l"/>
                      <a:r>
                        <a:rPr sz="900" b="0">
                          <a:solidFill>
                            <a:srgbClr val="1A2233"/>
                          </a:solidFill>
                        </a:rPr>
                        <a:t>wf = 10</a:t>
                      </a:r>
                    </a:p>
                  </a:txBody>
                  <a:tcPr>
                    <a:solidFill>
                      <a:srgbClr val="f1f5f9"/>
                    </a:solidFill>
                    <a:lnL w="6350">
                      <a:solidFill>
                        <a:srgbClr val="e2e8f0"/>
                      </a:solidFill>
                    </a:lnL>
                    <a:lnR w="6350">
                      <a:solidFill>
                        <a:srgbClr val="e2e8f0"/>
                      </a:solidFill>
                    </a:lnR>
                    <a:lnT w="6350">
                      <a:solidFill>
                        <a:srgbClr val="e2e8f0"/>
                      </a:solidFill>
                    </a:lnT>
                    <a:lnB w="6350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1A2233"/>
                          </a:solidFill>
                        </a:rPr>
                        <a:t>2789.400</a:t>
                      </a:r>
                    </a:p>
                  </a:txBody>
                  <a:tcPr>
                    <a:solidFill>
                      <a:srgbClr val="f1f5f9"/>
                    </a:solidFill>
                    <a:lnL w="6350">
                      <a:solidFill>
                        <a:srgbClr val="e2e8f0"/>
                      </a:solidFill>
                    </a:lnL>
                    <a:lnR w="6350">
                      <a:solidFill>
                        <a:srgbClr val="e2e8f0"/>
                      </a:solidFill>
                    </a:lnR>
                    <a:lnT w="6350">
                      <a:solidFill>
                        <a:srgbClr val="e2e8f0"/>
                      </a:solidFill>
                    </a:lnT>
                    <a:lnB w="6350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1A2233"/>
                          </a:solidFill>
                        </a:rPr>
                        <a:t>542.005</a:t>
                      </a:r>
                    </a:p>
                  </a:txBody>
                  <a:tcPr>
                    <a:solidFill>
                      <a:srgbClr val="f1f5f9"/>
                    </a:solidFill>
                    <a:lnL w="6350">
                      <a:solidFill>
                        <a:srgbClr val="e2e8f0"/>
                      </a:solidFill>
                    </a:lnL>
                    <a:lnR w="6350">
                      <a:solidFill>
                        <a:srgbClr val="e2e8f0"/>
                      </a:solidFill>
                    </a:lnR>
                    <a:lnT w="6350">
                      <a:solidFill>
                        <a:srgbClr val="e2e8f0"/>
                      </a:solidFill>
                    </a:lnT>
                    <a:lnB w="6350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1A2233"/>
                          </a:solidFill>
                        </a:rPr>
                        <a:t>45.574</a:t>
                      </a:r>
                    </a:p>
                  </a:txBody>
                  <a:tcPr>
                    <a:solidFill>
                      <a:srgbClr val="f1f5f9"/>
                    </a:solidFill>
                    <a:lnL w="6350">
                      <a:solidFill>
                        <a:srgbClr val="e2e8f0"/>
                      </a:solidFill>
                    </a:lnL>
                    <a:lnR w="6350">
                      <a:solidFill>
                        <a:srgbClr val="e2e8f0"/>
                      </a:solidFill>
                    </a:lnR>
                    <a:lnT w="6350">
                      <a:solidFill>
                        <a:srgbClr val="e2e8f0"/>
                      </a:solidFill>
                    </a:lnT>
                    <a:lnB w="6350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1A2233"/>
                          </a:solidFill>
                        </a:rPr>
                        <a:t>342.407</a:t>
                      </a:r>
                    </a:p>
                  </a:txBody>
                  <a:tcPr>
                    <a:solidFill>
                      <a:srgbClr val="f1f5f9"/>
                    </a:solidFill>
                    <a:lnL w="6350">
                      <a:solidFill>
                        <a:srgbClr val="e2e8f0"/>
                      </a:solidFill>
                    </a:lnL>
                    <a:lnR w="6350">
                      <a:solidFill>
                        <a:srgbClr val="e2e8f0"/>
                      </a:solidFill>
                    </a:lnR>
                    <a:lnT w="6350">
                      <a:solidFill>
                        <a:srgbClr val="e2e8f0"/>
                      </a:solidFill>
                    </a:lnT>
                    <a:lnB w="6350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1A2233"/>
                          </a:solidFill>
                        </a:rPr>
                        <a:t>284.779</a:t>
                      </a:r>
                    </a:p>
                  </a:txBody>
                  <a:tcPr>
                    <a:solidFill>
                      <a:srgbClr val="f1f5f9"/>
                    </a:solidFill>
                    <a:lnL w="6350">
                      <a:solidFill>
                        <a:srgbClr val="e2e8f0"/>
                      </a:solidFill>
                    </a:lnL>
                    <a:lnR w="6350">
                      <a:solidFill>
                        <a:srgbClr val="e2e8f0"/>
                      </a:solidFill>
                    </a:lnR>
                    <a:lnT w="6350">
                      <a:solidFill>
                        <a:srgbClr val="e2e8f0"/>
                      </a:solidFill>
                    </a:lnT>
                    <a:lnB w="6350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1A2233"/>
                          </a:solidFill>
                        </a:rPr>
                        <a:t>65.744</a:t>
                      </a:r>
                    </a:p>
                  </a:txBody>
                  <a:tcPr>
                    <a:solidFill>
                      <a:srgbClr val="f1f5f9"/>
                    </a:solidFill>
                    <a:lnL w="6350">
                      <a:solidFill>
                        <a:srgbClr val="e2e8f0"/>
                      </a:solidFill>
                    </a:lnL>
                    <a:lnR w="6350">
                      <a:solidFill>
                        <a:srgbClr val="e2e8f0"/>
                      </a:solidFill>
                    </a:lnR>
                    <a:lnT w="6350">
                      <a:solidFill>
                        <a:srgbClr val="e2e8f0"/>
                      </a:solidFill>
                    </a:lnT>
                    <a:lnB w="6350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1A2233"/>
                          </a:solidFill>
                        </a:rPr>
                        <a:t>102.422</a:t>
                      </a:r>
                    </a:p>
                  </a:txBody>
                  <a:tcPr>
                    <a:solidFill>
                      <a:srgbClr val="f1f5f9"/>
                    </a:solidFill>
                    <a:lnL w="6350">
                      <a:solidFill>
                        <a:srgbClr val="e2e8f0"/>
                      </a:solidFill>
                    </a:lnL>
                    <a:lnR w="6350">
                      <a:solidFill>
                        <a:srgbClr val="e2e8f0"/>
                      </a:solidFill>
                    </a:lnR>
                    <a:lnT w="6350">
                      <a:solidFill>
                        <a:srgbClr val="e2e8f0"/>
                      </a:solidFill>
                    </a:lnT>
                    <a:lnB w="6350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1A2233"/>
                          </a:solidFill>
                        </a:rPr>
                        <a:t>2894.356</a:t>
                      </a:r>
                    </a:p>
                  </a:txBody>
                  <a:tcPr>
                    <a:solidFill>
                      <a:srgbClr val="f1f5f9"/>
                    </a:solidFill>
                    <a:lnL w="6350">
                      <a:solidFill>
                        <a:srgbClr val="e2e8f0"/>
                      </a:solidFill>
                    </a:lnL>
                    <a:lnR w="6350">
                      <a:solidFill>
                        <a:srgbClr val="e2e8f0"/>
                      </a:solidFill>
                    </a:lnR>
                    <a:lnT w="6350">
                      <a:solidFill>
                        <a:srgbClr val="e2e8f0"/>
                      </a:solidFill>
                    </a:lnT>
                    <a:lnB w="6350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1A2233"/>
                          </a:solidFill>
                        </a:rPr>
                        <a:t>151.630</a:t>
                      </a:r>
                    </a:p>
                  </a:txBody>
                  <a:tcPr>
                    <a:solidFill>
                      <a:srgbClr val="f1f5f9"/>
                    </a:solidFill>
                    <a:lnL w="6350">
                      <a:solidFill>
                        <a:srgbClr val="e2e8f0"/>
                      </a:solidFill>
                    </a:lnL>
                    <a:lnR w="6350">
                      <a:solidFill>
                        <a:srgbClr val="e2e8f0"/>
                      </a:solidFill>
                    </a:lnR>
                    <a:lnT w="6350">
                      <a:solidFill>
                        <a:srgbClr val="e2e8f0"/>
                      </a:solidFill>
                    </a:lnT>
                    <a:lnB w="6350">
                      <a:solidFill>
                        <a:srgbClr val="e2e8f0"/>
                      </a:solidFill>
                    </a:lnB>
                  </a:tcPr>
                </a:tc>
              </a:tr>
              <a:tr h="628650">
                <a:tc>
                  <a:txBody>
                    <a:bodyPr wrap="none"/>
                    <a:lstStyle/>
                    <a:p>
                      <a:pPr algn="l"/>
                      <a:r>
                        <a:rPr sz="900" b="0">
                          <a:solidFill>
                            <a:srgbClr val="1A2233"/>
                          </a:solidFill>
                        </a:rPr>
                        <a:t>wf = 12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2e8f0"/>
                      </a:solidFill>
                    </a:lnL>
                    <a:lnR w="6350">
                      <a:solidFill>
                        <a:srgbClr val="e2e8f0"/>
                      </a:solidFill>
                    </a:lnR>
                    <a:lnT w="6350">
                      <a:solidFill>
                        <a:srgbClr val="e2e8f0"/>
                      </a:solidFill>
                    </a:lnT>
                    <a:lnB w="6350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1A2233"/>
                          </a:solidFill>
                        </a:rPr>
                        <a:t>2762.431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2e8f0"/>
                      </a:solidFill>
                    </a:lnL>
                    <a:lnR w="6350">
                      <a:solidFill>
                        <a:srgbClr val="e2e8f0"/>
                      </a:solidFill>
                    </a:lnR>
                    <a:lnT w="6350">
                      <a:solidFill>
                        <a:srgbClr val="e2e8f0"/>
                      </a:solidFill>
                    </a:lnT>
                    <a:lnB w="6350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1A2233"/>
                          </a:solidFill>
                        </a:rPr>
                        <a:t>498.008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2e8f0"/>
                      </a:solidFill>
                    </a:lnL>
                    <a:lnR w="6350">
                      <a:solidFill>
                        <a:srgbClr val="e2e8f0"/>
                      </a:solidFill>
                    </a:lnR>
                    <a:lnT w="6350">
                      <a:solidFill>
                        <a:srgbClr val="e2e8f0"/>
                      </a:solidFill>
                    </a:lnT>
                    <a:lnB w="6350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1A2233"/>
                          </a:solidFill>
                        </a:rPr>
                        <a:t>45.339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2e8f0"/>
                      </a:solidFill>
                    </a:lnL>
                    <a:lnR w="6350">
                      <a:solidFill>
                        <a:srgbClr val="e2e8f0"/>
                      </a:solidFill>
                    </a:lnR>
                    <a:lnT w="6350">
                      <a:solidFill>
                        <a:srgbClr val="e2e8f0"/>
                      </a:solidFill>
                    </a:lnT>
                    <a:lnB w="6350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1A2233"/>
                          </a:solidFill>
                        </a:rPr>
                        <a:t>334.169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2e8f0"/>
                      </a:solidFill>
                    </a:lnL>
                    <a:lnR w="6350">
                      <a:solidFill>
                        <a:srgbClr val="e2e8f0"/>
                      </a:solidFill>
                    </a:lnR>
                    <a:lnT w="6350">
                      <a:solidFill>
                        <a:srgbClr val="e2e8f0"/>
                      </a:solidFill>
                    </a:lnT>
                    <a:lnB w="6350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1A2233"/>
                          </a:solidFill>
                        </a:rPr>
                        <a:t>275.368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2e8f0"/>
                      </a:solidFill>
                    </a:lnL>
                    <a:lnR w="6350">
                      <a:solidFill>
                        <a:srgbClr val="e2e8f0"/>
                      </a:solidFill>
                    </a:lnR>
                    <a:lnT w="6350">
                      <a:solidFill>
                        <a:srgbClr val="e2e8f0"/>
                      </a:solidFill>
                    </a:lnT>
                    <a:lnB w="6350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1A2233"/>
                          </a:solidFill>
                        </a:rPr>
                        <a:t>66.622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2e8f0"/>
                      </a:solidFill>
                    </a:lnL>
                    <a:lnR w="6350">
                      <a:solidFill>
                        <a:srgbClr val="e2e8f0"/>
                      </a:solidFill>
                    </a:lnR>
                    <a:lnT w="6350">
                      <a:solidFill>
                        <a:srgbClr val="e2e8f0"/>
                      </a:solidFill>
                    </a:lnT>
                    <a:lnB w="6350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1A2233"/>
                          </a:solidFill>
                        </a:rPr>
                        <a:t>97.106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2e8f0"/>
                      </a:solidFill>
                    </a:lnL>
                    <a:lnR w="6350">
                      <a:solidFill>
                        <a:srgbClr val="e2e8f0"/>
                      </a:solidFill>
                    </a:lnR>
                    <a:lnT w="6350">
                      <a:solidFill>
                        <a:srgbClr val="e2e8f0"/>
                      </a:solidFill>
                    </a:lnT>
                    <a:lnB w="6350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1A2233"/>
                          </a:solidFill>
                        </a:rPr>
                        <a:t>3215.434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2e8f0"/>
                      </a:solidFill>
                    </a:lnL>
                    <a:lnR w="6350">
                      <a:solidFill>
                        <a:srgbClr val="e2e8f0"/>
                      </a:solidFill>
                    </a:lnR>
                    <a:lnT w="6350">
                      <a:solidFill>
                        <a:srgbClr val="e2e8f0"/>
                      </a:solidFill>
                    </a:lnT>
                    <a:lnB w="6350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1A2233"/>
                          </a:solidFill>
                        </a:rPr>
                        <a:t>159.337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2e8f0"/>
                      </a:solidFill>
                    </a:lnL>
                    <a:lnR w="6350">
                      <a:solidFill>
                        <a:srgbClr val="e2e8f0"/>
                      </a:solidFill>
                    </a:lnR>
                    <a:lnT w="6350">
                      <a:solidFill>
                        <a:srgbClr val="e2e8f0"/>
                      </a:solidFill>
                    </a:lnT>
                    <a:lnB w="6350">
                      <a:solidFill>
                        <a:srgbClr val="e2e8f0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12648" y="6473952"/>
            <a:ext cx="1107338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i="1">
                <a:solidFill>
                  <a:srgbClr val="9AACBB"/>
                </a:solidFill>
              </a:rPr>
              <a:t>Rejection = 1 / false positive rate, where FPR = fraction of QCD background jets passing the signal-score threshold at the given signal efficiency. Full prec. (FP) = full-precision uncompressed ParT model, evaluated on the 20M jet test set.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